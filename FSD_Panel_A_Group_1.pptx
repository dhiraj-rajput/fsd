
<file path=[Content_Types].xml><?xml version="1.0" encoding="utf-8"?>
<Types xmlns="http://schemas.openxmlformats.org/package/2006/content-types"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4"/>
  </p:notes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  <p:sldId id="265" r:id="rId12"/>
    <p:sldId id="264" r:id="rId13"/>
  </p:sldIdLst>
  <p:sldSz cx="12192000" cy="6858000"/>
  <p:notesSz cx="7104063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000" autoAdjust="0"/>
    <p:restoredTop sz="94660"/>
  </p:normalViewPr>
  <p:slideViewPr>
    <p:cSldViewPr snapToGrid="0">
      <p:cViewPr>
        <p:scale>
          <a:sx n="75" d="100"/>
          <a:sy n="75" d="100"/>
        </p:scale>
        <p:origin x="-974" y="-23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87CAA422-5594-46CE-9B06-8FB95C6E94A8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6C5A5EA1-4E81-4FF7-B671-FD48E6D249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09211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t" anchorCtr="0">
            <a:noAutofit/>
          </a:bodyPr>
          <a:lstStyle/>
          <a:p>
            <a:pPr>
              <a:buClr>
                <a:schemeClr val="dk1"/>
              </a:buClr>
              <a:buSzPts val="1400"/>
            </a:pPr>
            <a:endParaRPr/>
          </a:p>
        </p:txBody>
      </p:sp>
      <p:sp>
        <p:nvSpPr>
          <p:cNvPr id="231" name="Google Shape;23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>
          <a:extLst>
            <a:ext uri="{FF2B5EF4-FFF2-40B4-BE49-F238E27FC236}">
              <a16:creationId xmlns:a16="http://schemas.microsoft.com/office/drawing/2014/main" xmlns="" id="{94537968-BFB7-74EE-1904-EECDD22AF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:notes">
            <a:extLst>
              <a:ext uri="{FF2B5EF4-FFF2-40B4-BE49-F238E27FC236}">
                <a16:creationId xmlns:a16="http://schemas.microsoft.com/office/drawing/2014/main" xmlns="" id="{86383F38-F9B9-C927-0888-92B67833DF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t" anchorCtr="0">
            <a:noAutofit/>
          </a:bodyPr>
          <a:lstStyle/>
          <a:p>
            <a:pPr>
              <a:buClr>
                <a:schemeClr val="dk1"/>
              </a:buClr>
              <a:buSzPts val="1400"/>
            </a:pPr>
            <a:endParaRPr/>
          </a:p>
        </p:txBody>
      </p:sp>
      <p:sp>
        <p:nvSpPr>
          <p:cNvPr id="231" name="Google Shape;231;p1:notes">
            <a:extLst>
              <a:ext uri="{FF2B5EF4-FFF2-40B4-BE49-F238E27FC236}">
                <a16:creationId xmlns:a16="http://schemas.microsoft.com/office/drawing/2014/main" xmlns="" id="{3AA7C681-470C-3C90-95A0-14C18029B3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xmlns="" val="8170973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>
          <a:extLst>
            <a:ext uri="{FF2B5EF4-FFF2-40B4-BE49-F238E27FC236}">
              <a16:creationId xmlns:a16="http://schemas.microsoft.com/office/drawing/2014/main" xmlns="" id="{1CAA9D7B-5D94-18FE-E094-B79949674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:notes">
            <a:extLst>
              <a:ext uri="{FF2B5EF4-FFF2-40B4-BE49-F238E27FC236}">
                <a16:creationId xmlns:a16="http://schemas.microsoft.com/office/drawing/2014/main" xmlns="" id="{E7BEA5E4-2FB2-7650-AE79-861E236528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t" anchorCtr="0">
            <a:noAutofit/>
          </a:bodyPr>
          <a:lstStyle/>
          <a:p>
            <a:pPr>
              <a:buClr>
                <a:schemeClr val="dk1"/>
              </a:buClr>
              <a:buSzPts val="1400"/>
            </a:pPr>
            <a:endParaRPr/>
          </a:p>
        </p:txBody>
      </p:sp>
      <p:sp>
        <p:nvSpPr>
          <p:cNvPr id="231" name="Google Shape;231;p1:notes">
            <a:extLst>
              <a:ext uri="{FF2B5EF4-FFF2-40B4-BE49-F238E27FC236}">
                <a16:creationId xmlns:a16="http://schemas.microsoft.com/office/drawing/2014/main" xmlns="" id="{A156E84D-D4ED-E303-96B2-923769CC08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xmlns="" val="8737299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>
          <a:extLst>
            <a:ext uri="{FF2B5EF4-FFF2-40B4-BE49-F238E27FC236}">
              <a16:creationId xmlns:a16="http://schemas.microsoft.com/office/drawing/2014/main" xmlns="" id="{CBBF1736-832A-729D-EA02-37178288B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:notes">
            <a:extLst>
              <a:ext uri="{FF2B5EF4-FFF2-40B4-BE49-F238E27FC236}">
                <a16:creationId xmlns:a16="http://schemas.microsoft.com/office/drawing/2014/main" xmlns="" id="{D9EC9F02-90B7-0E32-61BB-20194454AA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t" anchorCtr="0">
            <a:noAutofit/>
          </a:bodyPr>
          <a:lstStyle/>
          <a:p>
            <a:pPr>
              <a:buClr>
                <a:schemeClr val="dk1"/>
              </a:buClr>
              <a:buSzPts val="1400"/>
            </a:pPr>
            <a:endParaRPr/>
          </a:p>
        </p:txBody>
      </p:sp>
      <p:sp>
        <p:nvSpPr>
          <p:cNvPr id="231" name="Google Shape;231;p1:notes">
            <a:extLst>
              <a:ext uri="{FF2B5EF4-FFF2-40B4-BE49-F238E27FC236}">
                <a16:creationId xmlns:a16="http://schemas.microsoft.com/office/drawing/2014/main" xmlns="" id="{6254A4CB-ADAB-4665-1C60-DD20E35D79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xmlns="" val="38950863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>
          <a:extLst>
            <a:ext uri="{FF2B5EF4-FFF2-40B4-BE49-F238E27FC236}">
              <a16:creationId xmlns:a16="http://schemas.microsoft.com/office/drawing/2014/main" xmlns="" id="{19C5E4A9-D10B-2462-2CAE-7944C6090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:notes">
            <a:extLst>
              <a:ext uri="{FF2B5EF4-FFF2-40B4-BE49-F238E27FC236}">
                <a16:creationId xmlns:a16="http://schemas.microsoft.com/office/drawing/2014/main" xmlns="" id="{3C573FC1-A75E-A1B9-DD63-AF17B4C014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t" anchorCtr="0">
            <a:noAutofit/>
          </a:bodyPr>
          <a:lstStyle/>
          <a:p>
            <a:pPr>
              <a:buClr>
                <a:schemeClr val="dk1"/>
              </a:buClr>
              <a:buSzPts val="1400"/>
            </a:pPr>
            <a:endParaRPr/>
          </a:p>
        </p:txBody>
      </p:sp>
      <p:sp>
        <p:nvSpPr>
          <p:cNvPr id="231" name="Google Shape;231;p1:notes">
            <a:extLst>
              <a:ext uri="{FF2B5EF4-FFF2-40B4-BE49-F238E27FC236}">
                <a16:creationId xmlns:a16="http://schemas.microsoft.com/office/drawing/2014/main" xmlns="" id="{CB0300C7-7750-9CFB-C3AD-5D9E32E3D5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xmlns="" val="33668924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>
          <a:extLst>
            <a:ext uri="{FF2B5EF4-FFF2-40B4-BE49-F238E27FC236}">
              <a16:creationId xmlns:a16="http://schemas.microsoft.com/office/drawing/2014/main" xmlns="" id="{A1AD3EA4-D3CE-F2A0-C836-B80CC7670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:notes">
            <a:extLst>
              <a:ext uri="{FF2B5EF4-FFF2-40B4-BE49-F238E27FC236}">
                <a16:creationId xmlns:a16="http://schemas.microsoft.com/office/drawing/2014/main" xmlns="" id="{737C773A-01DC-DBF0-D873-0CB32EC135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t" anchorCtr="0">
            <a:noAutofit/>
          </a:bodyPr>
          <a:lstStyle/>
          <a:p>
            <a:pPr>
              <a:buClr>
                <a:schemeClr val="dk1"/>
              </a:buClr>
              <a:buSzPts val="1400"/>
            </a:pPr>
            <a:endParaRPr/>
          </a:p>
        </p:txBody>
      </p:sp>
      <p:sp>
        <p:nvSpPr>
          <p:cNvPr id="231" name="Google Shape;231;p1:notes">
            <a:extLst>
              <a:ext uri="{FF2B5EF4-FFF2-40B4-BE49-F238E27FC236}">
                <a16:creationId xmlns:a16="http://schemas.microsoft.com/office/drawing/2014/main" xmlns="" id="{CE932A54-D712-D2B7-9117-3F38FD2935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xmlns="" val="40907282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>
          <a:extLst>
            <a:ext uri="{FF2B5EF4-FFF2-40B4-BE49-F238E27FC236}">
              <a16:creationId xmlns:a16="http://schemas.microsoft.com/office/drawing/2014/main" xmlns="" id="{2797A89E-1E7E-519C-03F8-4CCCE695F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:notes">
            <a:extLst>
              <a:ext uri="{FF2B5EF4-FFF2-40B4-BE49-F238E27FC236}">
                <a16:creationId xmlns:a16="http://schemas.microsoft.com/office/drawing/2014/main" xmlns="" id="{396F970C-DE68-DBA2-ADF1-CC271EFE01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t" anchorCtr="0">
            <a:noAutofit/>
          </a:bodyPr>
          <a:lstStyle/>
          <a:p>
            <a:pPr>
              <a:buClr>
                <a:schemeClr val="dk1"/>
              </a:buClr>
              <a:buSzPts val="1400"/>
            </a:pPr>
            <a:endParaRPr/>
          </a:p>
        </p:txBody>
      </p:sp>
      <p:sp>
        <p:nvSpPr>
          <p:cNvPr id="231" name="Google Shape;231;p1:notes">
            <a:extLst>
              <a:ext uri="{FF2B5EF4-FFF2-40B4-BE49-F238E27FC236}">
                <a16:creationId xmlns:a16="http://schemas.microsoft.com/office/drawing/2014/main" xmlns="" id="{BF4F9105-E815-9353-0050-BB2C5AC4ED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xmlns="" val="41220856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>
          <a:extLst>
            <a:ext uri="{FF2B5EF4-FFF2-40B4-BE49-F238E27FC236}">
              <a16:creationId xmlns:a16="http://schemas.microsoft.com/office/drawing/2014/main" xmlns="" id="{6DCFCCBD-DA56-DC10-E1E7-1BCBC6566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:notes">
            <a:extLst>
              <a:ext uri="{FF2B5EF4-FFF2-40B4-BE49-F238E27FC236}">
                <a16:creationId xmlns:a16="http://schemas.microsoft.com/office/drawing/2014/main" xmlns="" id="{CFD0F70D-C6FD-8414-1625-C5DFF21E8D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t" anchorCtr="0">
            <a:noAutofit/>
          </a:bodyPr>
          <a:lstStyle/>
          <a:p>
            <a:pPr>
              <a:buClr>
                <a:schemeClr val="dk1"/>
              </a:buClr>
              <a:buSzPts val="1400"/>
            </a:pPr>
            <a:endParaRPr/>
          </a:p>
        </p:txBody>
      </p:sp>
      <p:sp>
        <p:nvSpPr>
          <p:cNvPr id="231" name="Google Shape;231;p1:notes">
            <a:extLst>
              <a:ext uri="{FF2B5EF4-FFF2-40B4-BE49-F238E27FC236}">
                <a16:creationId xmlns:a16="http://schemas.microsoft.com/office/drawing/2014/main" xmlns="" id="{450BE594-AAD8-F90B-1177-35A1B61B45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xmlns="" val="10353309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19" name="Google Shape;19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982821" y="0"/>
            <a:ext cx="1145507" cy="12439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1698099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s slide layout">
  <p:cSld name="Contents slide layou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"/>
          <p:cNvSpPr txBox="1">
            <a:spLocks noGrp="1"/>
          </p:cNvSpPr>
          <p:nvPr>
            <p:ph type="body" idx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5400"/>
              <a:buNone/>
              <a:defRPr sz="5400" b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2" name="Google Shape;22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001829" y="0"/>
            <a:ext cx="1126499" cy="12439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2163409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 slide layout">
  <p:cSld name="End slide layou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453192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xmlns="" val="2006171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xmlns="" val="746510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xmlns="" val="125530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xmlns="" val="4097203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2" name="Google Shape;52;p1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1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1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xmlns="" val="33557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xmlns="" val="3364750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6" name="Google Shape;66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7" name="Google Shape;6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xmlns="" val="1739229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4" name="Google Shape;74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xmlns="" val="21473853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xmlns="" val="24851509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xmlns="" val="2632256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5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xmlns="" val="4460528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"/>
          <p:cNvSpPr txBox="1"/>
          <p:nvPr/>
        </p:nvSpPr>
        <p:spPr>
          <a:xfrm>
            <a:off x="1030107" y="1464069"/>
            <a:ext cx="100758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Rockwell" pitchFamily="18" charset="0"/>
                <a:ea typeface="Helvetica Neue"/>
                <a:cs typeface="Helvetica Neue"/>
                <a:sym typeface="Helvetica Neue"/>
              </a:rPr>
              <a:t>School 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Rockwell" pitchFamily="18" charset="0"/>
                <a:ea typeface="Helvetica Neue"/>
                <a:cs typeface="Helvetica Neue"/>
                <a:sym typeface="Helvetica Neue"/>
              </a:rPr>
              <a:t>of Computer Science and Engineering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Rockwell" pitchFamily="18" charset="0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4" name="Google Shape;234;p1"/>
          <p:cNvSpPr txBox="1"/>
          <p:nvPr/>
        </p:nvSpPr>
        <p:spPr>
          <a:xfrm>
            <a:off x="2467931" y="2083439"/>
            <a:ext cx="7256135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ockwell" pitchFamily="18" charset="0"/>
                <a:ea typeface="Helvetica Neue"/>
                <a:cs typeface="Helvetica Neue"/>
                <a:sym typeface="Helvetica Neue"/>
              </a:rPr>
              <a:t>Department  of Computer Engineering and Technology (DCET)</a:t>
            </a:r>
            <a:endParaRPr kumimoji="0" sz="2800" b="1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Rockwell" pitchFamily="18" charset="0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35" name="Google Shape;23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89624" y="100140"/>
            <a:ext cx="4221754" cy="1301708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88888"/>
                </a:buClr>
                <a:buSzPts val="1200"/>
                <a:buFont typeface="Calibri"/>
                <a:buNone/>
                <a:tabLst/>
                <a:defRPr/>
              </a:pPr>
              <a:t>1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37" name="Google Shape;237;p1"/>
          <p:cNvSpPr txBox="1"/>
          <p:nvPr/>
        </p:nvSpPr>
        <p:spPr>
          <a:xfrm>
            <a:off x="777923" y="3164379"/>
            <a:ext cx="10636152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lang="en-US" sz="2400" b="1" kern="0" dirty="0">
                <a:solidFill>
                  <a:srgbClr val="002060"/>
                </a:solidFill>
                <a:latin typeface="Rockwell" pitchFamily="18" charset="0"/>
                <a:ea typeface="Arial"/>
                <a:cs typeface="Arial"/>
                <a:sym typeface="Helvetica Neue"/>
              </a:rPr>
              <a:t>Full Stack Development </a:t>
            </a:r>
            <a:endParaRPr lang="en-US" sz="2400" b="1" kern="0" dirty="0" smtClean="0">
              <a:solidFill>
                <a:srgbClr val="002060"/>
              </a:solidFill>
              <a:latin typeface="Rockwell" pitchFamily="18" charset="0"/>
              <a:ea typeface="Arial"/>
              <a:cs typeface="Arial"/>
              <a:sym typeface="Helvetica Neue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lang="en-US" sz="2400" b="1" kern="0" dirty="0" smtClean="0">
                <a:solidFill>
                  <a:srgbClr val="002060"/>
                </a:solidFill>
                <a:latin typeface="Rockwell" pitchFamily="18" charset="0"/>
                <a:ea typeface="Arial"/>
                <a:cs typeface="Arial"/>
                <a:sym typeface="Helvetica Neue"/>
              </a:rPr>
              <a:t>Mini Project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lang="en-US" sz="2400" b="1" kern="0" dirty="0" err="1" smtClean="0">
                <a:solidFill>
                  <a:srgbClr val="002060"/>
                </a:solidFill>
                <a:latin typeface="Rockwell" pitchFamily="18" charset="0"/>
                <a:ea typeface="Arial"/>
                <a:cs typeface="Arial"/>
                <a:sym typeface="Helvetica Neue"/>
              </a:rPr>
              <a:t>BTech</a:t>
            </a:r>
            <a:r>
              <a:rPr lang="en-US" sz="2400" b="1" kern="0" dirty="0" smtClean="0">
                <a:solidFill>
                  <a:srgbClr val="002060"/>
                </a:solidFill>
                <a:latin typeface="Rockwell" pitchFamily="18" charset="0"/>
                <a:ea typeface="Arial"/>
                <a:cs typeface="Arial"/>
                <a:sym typeface="Helvetica Neue"/>
              </a:rPr>
              <a:t> CSE (</a:t>
            </a:r>
            <a:r>
              <a:rPr lang="en-US" sz="2400" b="1" kern="0" dirty="0" err="1" smtClean="0">
                <a:solidFill>
                  <a:srgbClr val="002060"/>
                </a:solidFill>
                <a:latin typeface="Rockwell" pitchFamily="18" charset="0"/>
                <a:ea typeface="Arial"/>
                <a:cs typeface="Arial"/>
                <a:sym typeface="Helvetica Neue"/>
              </a:rPr>
              <a:t>Cybersecurity</a:t>
            </a:r>
            <a:r>
              <a:rPr lang="en-US" sz="2400" b="1" kern="0" dirty="0" smtClean="0">
                <a:solidFill>
                  <a:srgbClr val="002060"/>
                </a:solidFill>
                <a:latin typeface="Rockwell" pitchFamily="18" charset="0"/>
                <a:ea typeface="Arial"/>
                <a:cs typeface="Arial"/>
                <a:sym typeface="Helvetica Neue"/>
              </a:rPr>
              <a:t> &amp; Forensics)</a:t>
            </a:r>
            <a:r>
              <a:rPr lang="en-US" sz="2400" b="1" kern="0" dirty="0">
                <a:solidFill>
                  <a:srgbClr val="002060"/>
                </a:solidFill>
                <a:latin typeface="Rockwell" pitchFamily="18" charset="0"/>
                <a:ea typeface="Arial"/>
                <a:cs typeface="Arial"/>
                <a:sym typeface="Helvetica Neue"/>
              </a:rPr>
              <a:t/>
            </a:r>
            <a:br>
              <a:rPr lang="en-US" sz="2400" b="1" kern="0" dirty="0">
                <a:solidFill>
                  <a:srgbClr val="002060"/>
                </a:solidFill>
                <a:latin typeface="Rockwell" pitchFamily="18" charset="0"/>
                <a:ea typeface="Arial"/>
                <a:cs typeface="Arial"/>
                <a:sym typeface="Helvetica Neue"/>
              </a:rPr>
            </a:br>
            <a:r>
              <a:rPr lang="en-US" sz="2400" b="1" kern="0" dirty="0" smtClean="0">
                <a:solidFill>
                  <a:srgbClr val="002060"/>
                </a:solidFill>
                <a:latin typeface="Rockwell" pitchFamily="18" charset="0"/>
                <a:ea typeface="Arial"/>
                <a:cs typeface="Arial"/>
                <a:sym typeface="Helvetica Neue"/>
              </a:rPr>
              <a:t>Panel-A</a:t>
            </a:r>
            <a:endParaRPr lang="en-US" sz="2400" b="1" kern="0" dirty="0">
              <a:solidFill>
                <a:srgbClr val="002060"/>
              </a:solidFill>
              <a:latin typeface="Rockwell" pitchFamily="18" charset="0"/>
              <a:ea typeface="Arial"/>
              <a:cs typeface="Arial"/>
              <a:sym typeface="Helvetica Neue"/>
            </a:endParaRPr>
          </a:p>
        </p:txBody>
      </p:sp>
      <p:sp>
        <p:nvSpPr>
          <p:cNvPr id="2" name="Google Shape;237;p1">
            <a:extLst>
              <a:ext uri="{FF2B5EF4-FFF2-40B4-BE49-F238E27FC236}">
                <a16:creationId xmlns:a16="http://schemas.microsoft.com/office/drawing/2014/main" xmlns="" id="{7A71C3C6-2D28-561A-E1C3-8A596C5DC166}"/>
              </a:ext>
            </a:extLst>
          </p:cNvPr>
          <p:cNvSpPr txBox="1"/>
          <p:nvPr/>
        </p:nvSpPr>
        <p:spPr>
          <a:xfrm>
            <a:off x="307479" y="4946708"/>
            <a:ext cx="8649909" cy="1357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  <a:latin typeface="Helvetica Neue"/>
              </a:rPr>
              <a:t>Group members:</a:t>
            </a:r>
          </a:p>
          <a:p>
            <a:r>
              <a:rPr lang="en-US" b="1" dirty="0" smtClean="0">
                <a:solidFill>
                  <a:srgbClr val="002060"/>
                </a:solidFill>
                <a:latin typeface="Helvetica Neue"/>
              </a:rPr>
              <a:t/>
            </a:r>
            <a:br>
              <a:rPr lang="en-US" b="1" dirty="0" smtClean="0">
                <a:solidFill>
                  <a:srgbClr val="002060"/>
                </a:solidFill>
                <a:latin typeface="Helvetica Neue"/>
              </a:rPr>
            </a:br>
            <a:r>
              <a:rPr lang="en-US" b="1" dirty="0" smtClean="0">
                <a:solidFill>
                  <a:srgbClr val="002060"/>
                </a:solidFill>
                <a:latin typeface="Helvetica Neue"/>
              </a:rPr>
              <a:t>1032230441 : </a:t>
            </a:r>
            <a:r>
              <a:rPr lang="en-US" b="1" dirty="0" err="1" smtClean="0">
                <a:solidFill>
                  <a:srgbClr val="002060"/>
                </a:solidFill>
                <a:latin typeface="Helvetica Neue"/>
              </a:rPr>
              <a:t>Dhiraj</a:t>
            </a:r>
            <a:r>
              <a:rPr lang="en-US" b="1" dirty="0" smtClean="0">
                <a:solidFill>
                  <a:srgbClr val="002060"/>
                </a:solidFill>
                <a:latin typeface="Helvetica Neue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latin typeface="Helvetica Neue"/>
              </a:rPr>
              <a:t>Rajput</a:t>
            </a:r>
            <a:r>
              <a:rPr lang="en-US" b="1" dirty="0" smtClean="0">
                <a:solidFill>
                  <a:srgbClr val="002060"/>
                </a:solidFill>
                <a:latin typeface="Helvetica Neue"/>
              </a:rPr>
              <a:t> 	1032230771: </a:t>
            </a:r>
            <a:r>
              <a:rPr lang="en-US" b="1" dirty="0" err="1" smtClean="0">
                <a:solidFill>
                  <a:srgbClr val="002060"/>
                </a:solidFill>
                <a:latin typeface="Helvetica Neue"/>
              </a:rPr>
              <a:t>Hrishikesh</a:t>
            </a:r>
            <a:r>
              <a:rPr lang="en-US" b="1" dirty="0" smtClean="0">
                <a:solidFill>
                  <a:srgbClr val="002060"/>
                </a:solidFill>
                <a:latin typeface="Helvetica Neue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latin typeface="Helvetica Neue"/>
              </a:rPr>
              <a:t>Bywar</a:t>
            </a:r>
            <a:endParaRPr lang="en-US" b="1" dirty="0" smtClean="0">
              <a:solidFill>
                <a:srgbClr val="002060"/>
              </a:solidFill>
              <a:latin typeface="Helvetica Neue"/>
            </a:endParaRPr>
          </a:p>
          <a:p>
            <a:r>
              <a:rPr lang="en-US" b="1" dirty="0" smtClean="0">
                <a:solidFill>
                  <a:srgbClr val="002060"/>
                </a:solidFill>
                <a:latin typeface="Helvetica Neue"/>
              </a:rPr>
              <a:t>1032231329: </a:t>
            </a:r>
            <a:r>
              <a:rPr lang="en-US" b="1" dirty="0" err="1" smtClean="0">
                <a:solidFill>
                  <a:srgbClr val="002060"/>
                </a:solidFill>
                <a:latin typeface="Helvetica Neue"/>
              </a:rPr>
              <a:t>Sushant</a:t>
            </a:r>
            <a:r>
              <a:rPr lang="en-US" b="1" dirty="0" smtClean="0">
                <a:solidFill>
                  <a:srgbClr val="002060"/>
                </a:solidFill>
                <a:latin typeface="Helvetica Neue"/>
              </a:rPr>
              <a:t> Kumar	1032231907: </a:t>
            </a:r>
            <a:r>
              <a:rPr lang="en-US" b="1" dirty="0" err="1" smtClean="0">
                <a:solidFill>
                  <a:srgbClr val="002060"/>
                </a:solidFill>
                <a:latin typeface="Helvetica Neue"/>
              </a:rPr>
              <a:t>Ashish</a:t>
            </a:r>
            <a:r>
              <a:rPr lang="en-US" b="1" dirty="0" smtClean="0">
                <a:solidFill>
                  <a:srgbClr val="002060"/>
                </a:solidFill>
                <a:latin typeface="Helvetica Neue"/>
              </a:rPr>
              <a:t> Sharma</a:t>
            </a:r>
            <a:endParaRPr lang="en-US" b="1" kern="0" dirty="0">
              <a:solidFill>
                <a:srgbClr val="002060"/>
              </a:solidFill>
              <a:latin typeface="Helvetica Neue"/>
              <a:ea typeface="Arial"/>
              <a:cs typeface="Arial"/>
              <a:sym typeface="Helvetica Neue"/>
            </a:endParaRPr>
          </a:p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lang="en-US" b="1" kern="0" dirty="0">
              <a:solidFill>
                <a:srgbClr val="002060"/>
              </a:solidFill>
              <a:latin typeface="Helvetica Neue"/>
              <a:ea typeface="Arial"/>
              <a:cs typeface="Arial"/>
              <a:sym typeface="Helvetica Neu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>
          <a:extLst>
            <a:ext uri="{FF2B5EF4-FFF2-40B4-BE49-F238E27FC236}">
              <a16:creationId xmlns:a16="http://schemas.microsoft.com/office/drawing/2014/main" xmlns="" id="{819DBEF7-D4B5-2F72-6CDC-53424EE82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">
            <a:extLst>
              <a:ext uri="{FF2B5EF4-FFF2-40B4-BE49-F238E27FC236}">
                <a16:creationId xmlns:a16="http://schemas.microsoft.com/office/drawing/2014/main" xmlns="" id="{99929820-77C8-241B-F07C-73DE7A661AF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88888"/>
                </a:buClr>
                <a:buSzPts val="1200"/>
                <a:buFont typeface="Calibri"/>
                <a:buNone/>
                <a:tabLst/>
                <a:defRPr/>
              </a:pPr>
              <a:t>2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" name="Google Shape;233;p1">
            <a:extLst>
              <a:ext uri="{FF2B5EF4-FFF2-40B4-BE49-F238E27FC236}">
                <a16:creationId xmlns:a16="http://schemas.microsoft.com/office/drawing/2014/main" xmlns="" id="{FD1EA14A-8DE2-85D1-C5CA-0291EAF42AAA}"/>
              </a:ext>
            </a:extLst>
          </p:cNvPr>
          <p:cNvSpPr txBox="1"/>
          <p:nvPr/>
        </p:nvSpPr>
        <p:spPr>
          <a:xfrm>
            <a:off x="1058100" y="450043"/>
            <a:ext cx="100758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Rockwell" pitchFamily="18" charset="0"/>
                <a:ea typeface="Helvetica Neue"/>
                <a:cs typeface="Helvetica Neue"/>
                <a:sym typeface="Helvetica Neue"/>
              </a:rPr>
              <a:t>Problem Statement &amp; Proposed Solution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Rockwell" pitchFamily="18" charset="0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30425" y="1102578"/>
            <a:ext cx="9619861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/>
            <a:r>
              <a:rPr lang="en-US" sz="2000" b="1" dirty="0" smtClean="0">
                <a:solidFill>
                  <a:srgbClr val="002060"/>
                </a:solidFill>
                <a:latin typeface="Rockwell" pitchFamily="18" charset="0"/>
                <a:cs typeface="Times New Roman" pitchFamily="18" charset="0"/>
              </a:rPr>
              <a:t>Problem Statement</a:t>
            </a:r>
            <a:endParaRPr lang="en-US" b="1" dirty="0" smtClean="0">
              <a:solidFill>
                <a:srgbClr val="002060"/>
              </a:solidFill>
              <a:latin typeface="Rockwell" pitchFamily="18" charset="0"/>
              <a:cs typeface="Times New Roman" pitchFamily="18" charset="0"/>
            </a:endParaRPr>
          </a:p>
          <a:p>
            <a:r>
              <a:rPr lang="en-US" dirty="0" smtClean="0">
                <a:solidFill>
                  <a:srgbClr val="002060"/>
                </a:solidFill>
                <a:latin typeface="Rockwell" pitchFamily="18" charset="0"/>
              </a:rPr>
              <a:t>Standard encryption methods face the problem of conspicuousness, where high-entropy, statistically random data becomes visibly opaque and a desirable target for attacks. This vulnerability is compounded by traditional key management systems, which create a discoverable and critical single point of failure.</a:t>
            </a:r>
            <a:endParaRPr lang="en-US" b="1" dirty="0" smtClean="0">
              <a:solidFill>
                <a:srgbClr val="002060"/>
              </a:solidFill>
              <a:latin typeface="Rockwell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en-US" sz="2000" b="1" dirty="0" smtClean="0">
              <a:solidFill>
                <a:srgbClr val="002060"/>
              </a:solidFill>
              <a:latin typeface="Rockwell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000" b="1" dirty="0" smtClean="0">
                <a:solidFill>
                  <a:srgbClr val="002060"/>
                </a:solidFill>
                <a:latin typeface="Rockwell" pitchFamily="18" charset="0"/>
                <a:cs typeface="Times New Roman" pitchFamily="18" charset="0"/>
              </a:rPr>
              <a:t> Proposed Solution: </a:t>
            </a:r>
            <a:r>
              <a:rPr lang="en-US" sz="2000" b="1" i="1" dirty="0" err="1" smtClean="0">
                <a:solidFill>
                  <a:srgbClr val="002060"/>
                </a:solidFill>
                <a:latin typeface="Rockwell" pitchFamily="18" charset="0"/>
                <a:cs typeface="Times New Roman" pitchFamily="18" charset="0"/>
              </a:rPr>
              <a:t>Obscura</a:t>
            </a:r>
            <a:endParaRPr lang="en-US" sz="2000" i="1" dirty="0" smtClean="0">
              <a:solidFill>
                <a:srgbClr val="002060"/>
              </a:solidFill>
              <a:latin typeface="Rockwell" pitchFamily="18" charset="0"/>
              <a:cs typeface="Times New Roman" pitchFamily="18" charset="0"/>
            </a:endParaRPr>
          </a:p>
          <a:p>
            <a:endParaRPr lang="en-US" b="1" dirty="0" smtClean="0">
              <a:solidFill>
                <a:srgbClr val="002060"/>
              </a:solidFill>
              <a:latin typeface="Rockwell" pitchFamily="18" charset="0"/>
              <a:cs typeface="Times New Roman" pitchFamily="18" charset="0"/>
            </a:endParaRPr>
          </a:p>
          <a:p>
            <a:r>
              <a:rPr lang="en-US" b="1" dirty="0" smtClean="0">
                <a:solidFill>
                  <a:srgbClr val="002060"/>
                </a:solidFill>
                <a:latin typeface="Rockwell" pitchFamily="18" charset="0"/>
                <a:cs typeface="Times New Roman" pitchFamily="18" charset="0"/>
              </a:rPr>
              <a:t>Multi-layered Security:</a:t>
            </a:r>
            <a:r>
              <a:rPr lang="en-US" dirty="0" smtClean="0">
                <a:solidFill>
                  <a:srgbClr val="002060"/>
                </a:solidFill>
                <a:latin typeface="Rockwell" pitchFamily="18" charset="0"/>
                <a:cs typeface="Times New Roman" pitchFamily="18" charset="0"/>
              </a:rPr>
              <a:t> Combines industry-standard AES-256-GCM cryptography with high-capacity </a:t>
            </a:r>
            <a:r>
              <a:rPr lang="en-US" dirty="0" err="1" smtClean="0">
                <a:solidFill>
                  <a:srgbClr val="002060"/>
                </a:solidFill>
                <a:latin typeface="Rockwell" pitchFamily="18" charset="0"/>
                <a:cs typeface="Times New Roman" pitchFamily="18" charset="0"/>
              </a:rPr>
              <a:t>steganography</a:t>
            </a:r>
            <a:r>
              <a:rPr lang="en-US" dirty="0" smtClean="0">
                <a:solidFill>
                  <a:srgbClr val="002060"/>
                </a:solidFill>
                <a:latin typeface="Rockwell" pitchFamily="18" charset="0"/>
                <a:cs typeface="Times New Roman" pitchFamily="18" charset="0"/>
              </a:rPr>
              <a:t>.</a:t>
            </a:r>
          </a:p>
          <a:p>
            <a:endParaRPr lang="en-US" dirty="0" smtClean="0">
              <a:solidFill>
                <a:srgbClr val="002060"/>
              </a:solidFill>
              <a:latin typeface="Rockwell" pitchFamily="18" charset="0"/>
              <a:cs typeface="Times New Roman" pitchFamily="18" charset="0"/>
            </a:endParaRPr>
          </a:p>
          <a:p>
            <a:r>
              <a:rPr lang="en-US" b="1" dirty="0" smtClean="0">
                <a:solidFill>
                  <a:srgbClr val="002060"/>
                </a:solidFill>
                <a:latin typeface="Rockwell" pitchFamily="18" charset="0"/>
                <a:cs typeface="Times New Roman" pitchFamily="18" charset="0"/>
              </a:rPr>
              <a:t>Key Obfuscation:</a:t>
            </a:r>
            <a:r>
              <a:rPr lang="en-US" dirty="0" smtClean="0">
                <a:solidFill>
                  <a:srgbClr val="002060"/>
                </a:solidFill>
                <a:latin typeface="Rockwell" pitchFamily="18" charset="0"/>
                <a:cs typeface="Times New Roman" pitchFamily="18" charset="0"/>
              </a:rPr>
              <a:t> The decryption key is embedded into the pixel data of an </a:t>
            </a:r>
            <a:endParaRPr lang="en-US" dirty="0" smtClean="0">
              <a:solidFill>
                <a:srgbClr val="002060"/>
              </a:solidFill>
              <a:latin typeface="Rockwell" pitchFamily="18" charset="0"/>
              <a:cs typeface="Times New Roman" pitchFamily="18" charset="0"/>
            </a:endParaRPr>
          </a:p>
          <a:p>
            <a:r>
              <a:rPr lang="en-US" dirty="0" smtClean="0">
                <a:solidFill>
                  <a:srgbClr val="002060"/>
                </a:solidFill>
                <a:latin typeface="Rockwell" pitchFamily="18" charset="0"/>
                <a:cs typeface="Times New Roman" pitchFamily="18" charset="0"/>
              </a:rPr>
              <a:t>inconspicuous </a:t>
            </a:r>
            <a:r>
              <a:rPr lang="en-US" dirty="0" smtClean="0">
                <a:solidFill>
                  <a:srgbClr val="002060"/>
                </a:solidFill>
                <a:latin typeface="Rockwell" pitchFamily="18" charset="0"/>
                <a:cs typeface="Times New Roman" pitchFamily="18" charset="0"/>
              </a:rPr>
              <a:t>PNG image, successfully obscuring it in plain view.</a:t>
            </a:r>
          </a:p>
          <a:p>
            <a:endParaRPr lang="en-US" b="1" dirty="0" smtClean="0">
              <a:solidFill>
                <a:srgbClr val="002060"/>
              </a:solidFill>
              <a:latin typeface="Rockwell" pitchFamily="18" charset="0"/>
              <a:cs typeface="Times New Roman" pitchFamily="18" charset="0"/>
            </a:endParaRPr>
          </a:p>
          <a:p>
            <a:r>
              <a:rPr lang="en-US" b="1" dirty="0" smtClean="0">
                <a:solidFill>
                  <a:srgbClr val="002060"/>
                </a:solidFill>
                <a:latin typeface="Rockwell" pitchFamily="18" charset="0"/>
                <a:cs typeface="Times New Roman" pitchFamily="18" charset="0"/>
              </a:rPr>
              <a:t>Zero-Knowledge </a:t>
            </a:r>
            <a:r>
              <a:rPr lang="en-US" b="1" dirty="0" smtClean="0">
                <a:solidFill>
                  <a:srgbClr val="002060"/>
                </a:solidFill>
                <a:latin typeface="Rockwell" pitchFamily="18" charset="0"/>
                <a:cs typeface="Times New Roman" pitchFamily="18" charset="0"/>
              </a:rPr>
              <a:t>Architecture:</a:t>
            </a:r>
            <a:r>
              <a:rPr lang="en-US" dirty="0" smtClean="0">
                <a:solidFill>
                  <a:srgbClr val="002060"/>
                </a:solidFill>
                <a:latin typeface="Rockwell" pitchFamily="18" charset="0"/>
                <a:cs typeface="Times New Roman" pitchFamily="18" charset="0"/>
              </a:rPr>
              <a:t> The server never holds both the encrypted data and the key simultaneously; the link between them is permanently broken after encoding.</a:t>
            </a:r>
          </a:p>
          <a:p>
            <a:endParaRPr lang="en-US" dirty="0">
              <a:solidFill>
                <a:srgbClr val="002060"/>
              </a:solidFill>
              <a:latin typeface="Rockwell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766141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>
          <a:extLst>
            <a:ext uri="{FF2B5EF4-FFF2-40B4-BE49-F238E27FC236}">
              <a16:creationId xmlns:a16="http://schemas.microsoft.com/office/drawing/2014/main" xmlns="" id="{88DDD356-EA64-3397-835B-7386F50E0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">
            <a:extLst>
              <a:ext uri="{FF2B5EF4-FFF2-40B4-BE49-F238E27FC236}">
                <a16:creationId xmlns:a16="http://schemas.microsoft.com/office/drawing/2014/main" xmlns="" id="{AE01F1E9-AEC0-C1EF-7D76-5F808FB30FF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88888"/>
                </a:buClr>
                <a:buSzPts val="1200"/>
                <a:buFont typeface="Calibri"/>
                <a:buNone/>
                <a:tabLst/>
                <a:defRPr/>
              </a:pPr>
              <a:t>3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" name="Google Shape;233;p1">
            <a:extLst>
              <a:ext uri="{FF2B5EF4-FFF2-40B4-BE49-F238E27FC236}">
                <a16:creationId xmlns:a16="http://schemas.microsoft.com/office/drawing/2014/main" xmlns="" id="{20655B9A-0AB6-ACE3-0442-1DB6CB6E2DA6}"/>
              </a:ext>
            </a:extLst>
          </p:cNvPr>
          <p:cNvSpPr txBox="1"/>
          <p:nvPr/>
        </p:nvSpPr>
        <p:spPr>
          <a:xfrm>
            <a:off x="1058100" y="450043"/>
            <a:ext cx="100758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Rockwell" pitchFamily="18" charset="0"/>
                <a:ea typeface="Helvetica Neue"/>
                <a:cs typeface="Helvetica Neue"/>
                <a:sym typeface="Helvetica Neue"/>
              </a:rPr>
              <a:t>Process Flow Diagram &amp; System Architecture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Rockwell" pitchFamily="18" charset="0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27789" y="911368"/>
            <a:ext cx="6186196" cy="615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  <a:latin typeface="Rockwell" pitchFamily="18" charset="0"/>
              </a:rPr>
              <a:t>System Architecture</a:t>
            </a:r>
          </a:p>
          <a:p>
            <a:endParaRPr lang="en-US" sz="1600" dirty="0" smtClean="0">
              <a:solidFill>
                <a:srgbClr val="002060"/>
              </a:solidFill>
              <a:latin typeface="Rockwell" pitchFamily="18" charset="0"/>
            </a:endParaRPr>
          </a:p>
          <a:p>
            <a:r>
              <a:rPr lang="en-US" sz="1600" b="1" dirty="0" smtClean="0">
                <a:solidFill>
                  <a:srgbClr val="002060"/>
                </a:solidFill>
                <a:latin typeface="Rockwell" pitchFamily="18" charset="0"/>
              </a:rPr>
              <a:t>1. Decoupled Design:</a:t>
            </a:r>
            <a:r>
              <a:rPr lang="en-US" sz="1600" dirty="0" smtClean="0">
                <a:solidFill>
                  <a:srgbClr val="002060"/>
                </a:solidFill>
                <a:latin typeface="Rockwell" pitchFamily="18" charset="0"/>
              </a:rPr>
              <a:t> A modern client-server application 	separating the React UI from the Node.js secure 	backend.</a:t>
            </a:r>
          </a:p>
          <a:p>
            <a:r>
              <a:rPr lang="en-US" sz="1600" b="1" dirty="0" smtClean="0">
                <a:solidFill>
                  <a:srgbClr val="002060"/>
                </a:solidFill>
                <a:latin typeface="Rockwell" pitchFamily="18" charset="0"/>
              </a:rPr>
              <a:t>2. Zero-Knowledge Storage :</a:t>
            </a:r>
            <a:r>
              <a:rPr lang="en-US" sz="1600" dirty="0" smtClean="0">
                <a:solidFill>
                  <a:srgbClr val="002060"/>
                </a:solidFill>
                <a:latin typeface="Rockwell" pitchFamily="18" charset="0"/>
              </a:rPr>
              <a:t> The database only stores 	encrypted </a:t>
            </a:r>
            <a:r>
              <a:rPr lang="en-US" sz="1600" dirty="0" err="1" smtClean="0">
                <a:solidFill>
                  <a:srgbClr val="002060"/>
                </a:solidFill>
                <a:latin typeface="Rockwell" pitchFamily="18" charset="0"/>
              </a:rPr>
              <a:t>ciphertext</a:t>
            </a:r>
            <a:r>
              <a:rPr lang="en-US" sz="1600" dirty="0" smtClean="0">
                <a:solidFill>
                  <a:srgbClr val="002060"/>
                </a:solidFill>
                <a:latin typeface="Rockwell" pitchFamily="18" charset="0"/>
              </a:rPr>
              <a:t> and non-sensitive metadata; it is 	structurally impossible to store the key.</a:t>
            </a:r>
          </a:p>
          <a:p>
            <a:endParaRPr lang="en-US" b="1" dirty="0" smtClean="0">
              <a:solidFill>
                <a:srgbClr val="002060"/>
              </a:solidFill>
              <a:latin typeface="Rockwell" pitchFamily="18" charset="0"/>
            </a:endParaRPr>
          </a:p>
          <a:p>
            <a:r>
              <a:rPr lang="en-US" b="1" dirty="0" smtClean="0">
                <a:solidFill>
                  <a:srgbClr val="002060"/>
                </a:solidFill>
                <a:latin typeface="Rockwell" pitchFamily="18" charset="0"/>
              </a:rPr>
              <a:t>Process Flow</a:t>
            </a:r>
            <a:endParaRPr lang="en-US" sz="1600" b="1" dirty="0" smtClean="0">
              <a:solidFill>
                <a:srgbClr val="002060"/>
              </a:solidFill>
              <a:latin typeface="Rockwell" pitchFamily="18" charset="0"/>
            </a:endParaRPr>
          </a:p>
          <a:p>
            <a:r>
              <a:rPr lang="en-US" sz="1600" b="1" dirty="0" smtClean="0">
                <a:solidFill>
                  <a:srgbClr val="002060"/>
                </a:solidFill>
                <a:latin typeface="Rockwell" pitchFamily="18" charset="0"/>
              </a:rPr>
              <a:t>1. Encoding (Encryption):  </a:t>
            </a:r>
            <a:r>
              <a:rPr lang="en-US" dirty="0" smtClean="0"/>
              <a:t>📄➡  🔒➡ 🖼</a:t>
            </a:r>
            <a:endParaRPr lang="en-US" sz="1600" dirty="0" smtClean="0">
              <a:solidFill>
                <a:srgbClr val="002060"/>
              </a:solidFill>
              <a:latin typeface="Rockwell" pitchFamily="18" charset="0"/>
            </a:endParaRPr>
          </a:p>
          <a:p>
            <a:pPr lvl="1">
              <a:buFont typeface="Arial" pitchFamily="34" charset="0"/>
              <a:buChar char="•"/>
            </a:pPr>
            <a:r>
              <a:rPr lang="en-US" sz="1600" dirty="0" smtClean="0">
                <a:solidFill>
                  <a:srgbClr val="002060"/>
                </a:solidFill>
                <a:latin typeface="Rockwell" pitchFamily="18" charset="0"/>
              </a:rPr>
              <a:t> File is uploaded to server memory via </a:t>
            </a:r>
            <a:r>
              <a:rPr lang="en-US" sz="1600" dirty="0" err="1" smtClean="0">
                <a:solidFill>
                  <a:srgbClr val="002060"/>
                </a:solidFill>
                <a:latin typeface="Rockwell" pitchFamily="18" charset="0"/>
              </a:rPr>
              <a:t>Multer</a:t>
            </a:r>
            <a:r>
              <a:rPr lang="en-US" sz="1600" dirty="0" smtClean="0">
                <a:solidFill>
                  <a:srgbClr val="002060"/>
                </a:solidFill>
                <a:latin typeface="Rockwell" pitchFamily="18" charset="0"/>
              </a:rPr>
              <a:t>.</a:t>
            </a:r>
          </a:p>
          <a:p>
            <a:pPr lvl="1">
              <a:buFont typeface="Arial" pitchFamily="34" charset="0"/>
              <a:buChar char="•"/>
            </a:pPr>
            <a:r>
              <a:rPr lang="en-US" sz="1600" dirty="0" smtClean="0">
                <a:solidFill>
                  <a:srgbClr val="002060"/>
                </a:solidFill>
                <a:latin typeface="Rockwell" pitchFamily="18" charset="0"/>
              </a:rPr>
              <a:t> File is encrypted using AES-256-GCM; a unique key and 	IV are generated.</a:t>
            </a:r>
          </a:p>
          <a:p>
            <a:pPr lvl="1">
              <a:buFont typeface="Arial" pitchFamily="34" charset="0"/>
              <a:buChar char="•"/>
            </a:pPr>
            <a:r>
              <a:rPr lang="en-US" sz="1600" dirty="0" smtClean="0">
                <a:solidFill>
                  <a:srgbClr val="002060"/>
                </a:solidFill>
                <a:latin typeface="Rockwell" pitchFamily="18" charset="0"/>
              </a:rPr>
              <a:t> Key and IV are embedded into a new PNG "key-image" 	using Sharp.</a:t>
            </a:r>
          </a:p>
          <a:p>
            <a:pPr lvl="1">
              <a:buFont typeface="Arial" pitchFamily="34" charset="0"/>
              <a:buChar char="•"/>
            </a:pPr>
            <a:r>
              <a:rPr lang="en-US" sz="1600" dirty="0" smtClean="0">
                <a:solidFill>
                  <a:srgbClr val="002060"/>
                </a:solidFill>
                <a:latin typeface="Rockwell" pitchFamily="18" charset="0"/>
              </a:rPr>
              <a:t> </a:t>
            </a:r>
            <a:r>
              <a:rPr lang="en-US" sz="1600" dirty="0" err="1" smtClean="0">
                <a:solidFill>
                  <a:srgbClr val="002060"/>
                </a:solidFill>
                <a:latin typeface="Rockwell" pitchFamily="18" charset="0"/>
              </a:rPr>
              <a:t>Ciphertext</a:t>
            </a:r>
            <a:r>
              <a:rPr lang="en-US" sz="1600" dirty="0" smtClean="0">
                <a:solidFill>
                  <a:srgbClr val="002060"/>
                </a:solidFill>
                <a:latin typeface="Rockwell" pitchFamily="18" charset="0"/>
              </a:rPr>
              <a:t> is stored in </a:t>
            </a:r>
            <a:r>
              <a:rPr lang="en-US" sz="1600" dirty="0" err="1" smtClean="0">
                <a:solidFill>
                  <a:srgbClr val="002060"/>
                </a:solidFill>
                <a:latin typeface="Rockwell" pitchFamily="18" charset="0"/>
              </a:rPr>
              <a:t>MongoDB</a:t>
            </a:r>
            <a:r>
              <a:rPr lang="en-US" sz="1600" dirty="0" smtClean="0">
                <a:solidFill>
                  <a:srgbClr val="002060"/>
                </a:solidFill>
                <a:latin typeface="Rockwell" pitchFamily="18" charset="0"/>
              </a:rPr>
              <a:t>; Key-image is 	downloaded by the user; server memory is purged.</a:t>
            </a:r>
          </a:p>
          <a:p>
            <a:r>
              <a:rPr lang="en-US" sz="1600" b="1" dirty="0" smtClean="0">
                <a:solidFill>
                  <a:srgbClr val="002060"/>
                </a:solidFill>
                <a:latin typeface="Rockwell" pitchFamily="18" charset="0"/>
              </a:rPr>
              <a:t>2. Decoding (Decryption):   </a:t>
            </a:r>
            <a:r>
              <a:rPr lang="en-US" dirty="0" smtClean="0"/>
              <a:t>🖼➡🔓➡📄</a:t>
            </a:r>
            <a:endParaRPr lang="en-US" sz="1600" dirty="0" smtClean="0">
              <a:solidFill>
                <a:srgbClr val="002060"/>
              </a:solidFill>
              <a:latin typeface="Rockwell" pitchFamily="18" charset="0"/>
            </a:endParaRPr>
          </a:p>
          <a:p>
            <a:pPr lvl="1">
              <a:buFont typeface="Arial" pitchFamily="34" charset="0"/>
              <a:buChar char="•"/>
            </a:pPr>
            <a:r>
              <a:rPr lang="en-US" sz="1600" dirty="0" smtClean="0">
                <a:solidFill>
                  <a:srgbClr val="002060"/>
                </a:solidFill>
                <a:latin typeface="Rockwell" pitchFamily="18" charset="0"/>
              </a:rPr>
              <a:t> User uploads their unique PNG key-image.</a:t>
            </a:r>
          </a:p>
          <a:p>
            <a:pPr lvl="1">
              <a:buFont typeface="Arial" pitchFamily="34" charset="0"/>
              <a:buChar char="•"/>
            </a:pPr>
            <a:r>
              <a:rPr lang="en-US" sz="1600" dirty="0" smtClean="0">
                <a:solidFill>
                  <a:srgbClr val="002060"/>
                </a:solidFill>
                <a:latin typeface="Rockwell" pitchFamily="18" charset="0"/>
              </a:rPr>
              <a:t> System extracts the AES key and IV from the image pixels.</a:t>
            </a:r>
          </a:p>
          <a:p>
            <a:pPr lvl="1">
              <a:buFont typeface="Arial" pitchFamily="34" charset="0"/>
              <a:buChar char="•"/>
            </a:pPr>
            <a:r>
              <a:rPr lang="en-US" sz="1600" dirty="0" smtClean="0">
                <a:solidFill>
                  <a:srgbClr val="002060"/>
                </a:solidFill>
                <a:latin typeface="Rockwell" pitchFamily="18" charset="0"/>
              </a:rPr>
              <a:t> </a:t>
            </a:r>
            <a:r>
              <a:rPr lang="en-US" sz="1600" dirty="0" err="1" smtClean="0">
                <a:solidFill>
                  <a:srgbClr val="002060"/>
                </a:solidFill>
                <a:latin typeface="Rockwell" pitchFamily="18" charset="0"/>
              </a:rPr>
              <a:t>Ciphertext</a:t>
            </a:r>
            <a:r>
              <a:rPr lang="en-US" sz="1600" dirty="0" smtClean="0">
                <a:solidFill>
                  <a:srgbClr val="002060"/>
                </a:solidFill>
                <a:latin typeface="Rockwell" pitchFamily="18" charset="0"/>
              </a:rPr>
              <a:t> is retrieved from DB and decrypted; integrity 	is validated via GCM Auth Tag.</a:t>
            </a:r>
          </a:p>
          <a:p>
            <a:endParaRPr lang="en-US" sz="1600" dirty="0">
              <a:solidFill>
                <a:srgbClr val="002060"/>
              </a:solidFill>
              <a:latin typeface="Rockwell" pitchFamily="18" charset="0"/>
            </a:endParaRPr>
          </a:p>
        </p:txBody>
      </p:sp>
      <p:pic>
        <p:nvPicPr>
          <p:cNvPr id="12295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746034" y="1424769"/>
            <a:ext cx="5445966" cy="3742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344120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>
          <a:extLst>
            <a:ext uri="{FF2B5EF4-FFF2-40B4-BE49-F238E27FC236}">
              <a16:creationId xmlns:a16="http://schemas.microsoft.com/office/drawing/2014/main" xmlns="" id="{6C7A9119-8DFA-0EB4-6BA9-DD30FA479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">
            <a:extLst>
              <a:ext uri="{FF2B5EF4-FFF2-40B4-BE49-F238E27FC236}">
                <a16:creationId xmlns:a16="http://schemas.microsoft.com/office/drawing/2014/main" xmlns="" id="{6043E473-82CB-9DDD-FA54-B4C9CA0766E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88888"/>
                </a:buClr>
                <a:buSzPts val="1200"/>
                <a:buFont typeface="Calibri"/>
                <a:buNone/>
                <a:tabLst/>
                <a:defRPr/>
              </a:pPr>
              <a:t>4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" name="Google Shape;233;p1">
            <a:extLst>
              <a:ext uri="{FF2B5EF4-FFF2-40B4-BE49-F238E27FC236}">
                <a16:creationId xmlns:a16="http://schemas.microsoft.com/office/drawing/2014/main" xmlns="" id="{1E7A7E53-FB8E-6C78-C1D3-D5E5CA16DA4A}"/>
              </a:ext>
            </a:extLst>
          </p:cNvPr>
          <p:cNvSpPr txBox="1"/>
          <p:nvPr/>
        </p:nvSpPr>
        <p:spPr>
          <a:xfrm>
            <a:off x="1058100" y="450043"/>
            <a:ext cx="100758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Rockwell" pitchFamily="18" charset="0"/>
                <a:ea typeface="Helvetica Neue"/>
                <a:cs typeface="Helvetica Neue"/>
                <a:sym typeface="Helvetica Neue"/>
              </a:rPr>
              <a:t>Technical Stack with Reasoning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Rockwell" pitchFamily="18" charset="0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23730" y="1054359"/>
            <a:ext cx="1011438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  <a:latin typeface="Rockwell" pitchFamily="18" charset="0"/>
              </a:rPr>
              <a:t>Backend: Node.js       &amp; Express </a:t>
            </a:r>
            <a:endParaRPr lang="en-US" dirty="0" smtClean="0">
              <a:solidFill>
                <a:srgbClr val="002060"/>
              </a:solidFill>
              <a:latin typeface="Rockwell" pitchFamily="18" charset="0"/>
            </a:endParaRPr>
          </a:p>
          <a:p>
            <a:r>
              <a:rPr lang="en-US" i="1" dirty="0" smtClean="0">
                <a:solidFill>
                  <a:srgbClr val="002060"/>
                </a:solidFill>
                <a:latin typeface="Rockwell" pitchFamily="18" charset="0"/>
              </a:rPr>
              <a:t>Reasoning:</a:t>
            </a:r>
            <a:r>
              <a:rPr lang="en-US" dirty="0" smtClean="0">
                <a:solidFill>
                  <a:srgbClr val="002060"/>
                </a:solidFill>
                <a:latin typeface="Rockwell" pitchFamily="18" charset="0"/>
              </a:rPr>
              <a:t> Non-blocking, event-driven I/O architecture ideal for handling heavy I/O operations like file processing without blocking the main thread.</a:t>
            </a:r>
          </a:p>
          <a:p>
            <a:endParaRPr lang="en-US" b="1" dirty="0" smtClean="0">
              <a:solidFill>
                <a:srgbClr val="002060"/>
              </a:solidFill>
              <a:latin typeface="Rockwell" pitchFamily="18" charset="0"/>
            </a:endParaRPr>
          </a:p>
          <a:p>
            <a:r>
              <a:rPr lang="en-US" b="1" dirty="0" smtClean="0">
                <a:solidFill>
                  <a:srgbClr val="002060"/>
                </a:solidFill>
                <a:latin typeface="Rockwell" pitchFamily="18" charset="0"/>
              </a:rPr>
              <a:t>Image Processing: Sharp (</a:t>
            </a:r>
            <a:r>
              <a:rPr lang="en-US" b="1" dirty="0" err="1" smtClean="0">
                <a:solidFill>
                  <a:srgbClr val="002060"/>
                </a:solidFill>
                <a:latin typeface="Rockwell" pitchFamily="18" charset="0"/>
              </a:rPr>
              <a:t>libvips</a:t>
            </a:r>
            <a:r>
              <a:rPr lang="en-US" b="1" dirty="0" smtClean="0">
                <a:solidFill>
                  <a:srgbClr val="002060"/>
                </a:solidFill>
                <a:latin typeface="Rockwell" pitchFamily="18" charset="0"/>
              </a:rPr>
              <a:t>)</a:t>
            </a:r>
            <a:endParaRPr lang="en-US" i="1" dirty="0" smtClean="0">
              <a:solidFill>
                <a:srgbClr val="002060"/>
              </a:solidFill>
              <a:latin typeface="Rockwell" pitchFamily="18" charset="0"/>
            </a:endParaRPr>
          </a:p>
          <a:p>
            <a:r>
              <a:rPr lang="en-US" i="1" dirty="0" smtClean="0">
                <a:solidFill>
                  <a:srgbClr val="002060"/>
                </a:solidFill>
                <a:latin typeface="Rockwell" pitchFamily="18" charset="0"/>
              </a:rPr>
              <a:t>Reasoning:</a:t>
            </a:r>
            <a:r>
              <a:rPr lang="en-US" dirty="0" smtClean="0">
                <a:solidFill>
                  <a:srgbClr val="002060"/>
                </a:solidFill>
                <a:latin typeface="Rockwell" pitchFamily="18" charset="0"/>
              </a:rPr>
              <a:t> Provides high-speed, in-memory manipulation of raw pixel data for </a:t>
            </a:r>
            <a:r>
              <a:rPr lang="en-US" dirty="0" err="1" smtClean="0">
                <a:solidFill>
                  <a:srgbClr val="002060"/>
                </a:solidFill>
                <a:latin typeface="Rockwell" pitchFamily="18" charset="0"/>
              </a:rPr>
              <a:t>steganography</a:t>
            </a:r>
            <a:r>
              <a:rPr lang="en-US" dirty="0" smtClean="0">
                <a:solidFill>
                  <a:srgbClr val="002060"/>
                </a:solidFill>
                <a:latin typeface="Rockwell" pitchFamily="18" charset="0"/>
              </a:rPr>
              <a:t>, significantly faster than JS-only alternatives.</a:t>
            </a:r>
          </a:p>
          <a:p>
            <a:endParaRPr lang="en-US" b="1" dirty="0" smtClean="0">
              <a:solidFill>
                <a:srgbClr val="002060"/>
              </a:solidFill>
              <a:latin typeface="Rockwell" pitchFamily="18" charset="0"/>
            </a:endParaRPr>
          </a:p>
          <a:p>
            <a:r>
              <a:rPr lang="en-US" b="1" dirty="0" smtClean="0">
                <a:solidFill>
                  <a:srgbClr val="002060"/>
                </a:solidFill>
                <a:latin typeface="Rockwell" pitchFamily="18" charset="0"/>
              </a:rPr>
              <a:t>Database: </a:t>
            </a:r>
            <a:r>
              <a:rPr lang="en-US" b="1" dirty="0" err="1" smtClean="0">
                <a:solidFill>
                  <a:srgbClr val="002060"/>
                </a:solidFill>
                <a:latin typeface="Rockwell" pitchFamily="18" charset="0"/>
              </a:rPr>
              <a:t>MongoDB</a:t>
            </a:r>
            <a:r>
              <a:rPr lang="en-US" b="1" dirty="0" smtClean="0">
                <a:solidFill>
                  <a:srgbClr val="002060"/>
                </a:solidFill>
                <a:latin typeface="Rockwell" pitchFamily="18" charset="0"/>
              </a:rPr>
              <a:t>        &amp; Mongoose </a:t>
            </a:r>
            <a:r>
              <a:rPr lang="en-US" dirty="0" smtClean="0"/>
              <a:t>🐾</a:t>
            </a:r>
            <a:endParaRPr lang="en-US" dirty="0" smtClean="0">
              <a:solidFill>
                <a:srgbClr val="002060"/>
              </a:solidFill>
              <a:latin typeface="Rockwell" pitchFamily="18" charset="0"/>
            </a:endParaRPr>
          </a:p>
          <a:p>
            <a:r>
              <a:rPr lang="en-US" i="1" dirty="0" smtClean="0">
                <a:solidFill>
                  <a:srgbClr val="002060"/>
                </a:solidFill>
                <a:latin typeface="Rockwell" pitchFamily="18" charset="0"/>
              </a:rPr>
              <a:t>Reasoning:</a:t>
            </a:r>
            <a:r>
              <a:rPr lang="en-US" dirty="0" smtClean="0">
                <a:solidFill>
                  <a:srgbClr val="002060"/>
                </a:solidFill>
                <a:latin typeface="Rockwell" pitchFamily="18" charset="0"/>
              </a:rPr>
              <a:t> Mongoose offers a schema-enforced data persistence layer, allowing a minimalist model that intentionally omits key storage fields.</a:t>
            </a:r>
          </a:p>
          <a:p>
            <a:endParaRPr lang="en-US" b="1" dirty="0" smtClean="0">
              <a:solidFill>
                <a:srgbClr val="002060"/>
              </a:solidFill>
              <a:latin typeface="Rockwell" pitchFamily="18" charset="0"/>
            </a:endParaRPr>
          </a:p>
          <a:p>
            <a:r>
              <a:rPr lang="en-US" b="1" dirty="0" smtClean="0">
                <a:solidFill>
                  <a:srgbClr val="002060"/>
                </a:solidFill>
                <a:latin typeface="Rockwell" pitchFamily="18" charset="0"/>
              </a:rPr>
              <a:t>Frontend: React     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002060"/>
                </a:solidFill>
                <a:latin typeface="Rockwell" pitchFamily="18" charset="0"/>
              </a:rPr>
              <a:t>&amp; </a:t>
            </a:r>
            <a:r>
              <a:rPr lang="en-US" b="1" dirty="0" err="1" smtClean="0">
                <a:solidFill>
                  <a:srgbClr val="002060"/>
                </a:solidFill>
                <a:latin typeface="Rockwell" pitchFamily="18" charset="0"/>
              </a:rPr>
              <a:t>Vite</a:t>
            </a:r>
            <a:endParaRPr lang="en-US" dirty="0" smtClean="0">
              <a:solidFill>
                <a:srgbClr val="002060"/>
              </a:solidFill>
              <a:latin typeface="Rockwell" pitchFamily="18" charset="0"/>
            </a:endParaRPr>
          </a:p>
          <a:p>
            <a:r>
              <a:rPr lang="en-US" i="1" dirty="0" smtClean="0">
                <a:solidFill>
                  <a:srgbClr val="002060"/>
                </a:solidFill>
                <a:latin typeface="Rockwell" pitchFamily="18" charset="0"/>
              </a:rPr>
              <a:t>Reasoning:</a:t>
            </a:r>
            <a:r>
              <a:rPr lang="en-US" dirty="0" smtClean="0">
                <a:solidFill>
                  <a:srgbClr val="002060"/>
                </a:solidFill>
                <a:latin typeface="Rockwell" pitchFamily="18" charset="0"/>
              </a:rPr>
              <a:t> Delivers a fast, responsive user experience that hides cryptographic complexity behind a friendly interface.</a:t>
            </a:r>
          </a:p>
          <a:p>
            <a:endParaRPr lang="en-US" b="1" dirty="0" smtClean="0">
              <a:solidFill>
                <a:srgbClr val="002060"/>
              </a:solidFill>
              <a:latin typeface="Rockwell" pitchFamily="18" charset="0"/>
            </a:endParaRPr>
          </a:p>
          <a:p>
            <a:r>
              <a:rPr lang="en-US" b="1" dirty="0" smtClean="0">
                <a:solidFill>
                  <a:srgbClr val="002060"/>
                </a:solidFill>
                <a:latin typeface="Rockwell" pitchFamily="18" charset="0"/>
              </a:rPr>
              <a:t>Cryptography: AES-256-GCM </a:t>
            </a:r>
            <a:r>
              <a:rPr lang="en-US" dirty="0" smtClean="0"/>
              <a:t>🛡</a:t>
            </a:r>
            <a:endParaRPr lang="en-US" dirty="0" smtClean="0">
              <a:solidFill>
                <a:srgbClr val="002060"/>
              </a:solidFill>
              <a:latin typeface="Rockwell" pitchFamily="18" charset="0"/>
            </a:endParaRPr>
          </a:p>
          <a:p>
            <a:r>
              <a:rPr lang="en-US" i="1" dirty="0" smtClean="0">
                <a:solidFill>
                  <a:srgbClr val="002060"/>
                </a:solidFill>
                <a:latin typeface="Rockwell" pitchFamily="18" charset="0"/>
              </a:rPr>
              <a:t>Reasoning:</a:t>
            </a:r>
            <a:r>
              <a:rPr lang="en-US" dirty="0" smtClean="0">
                <a:solidFill>
                  <a:srgbClr val="002060"/>
                </a:solidFill>
                <a:latin typeface="Rockwell" pitchFamily="18" charset="0"/>
              </a:rPr>
              <a:t> An Authenticated Encryption (AEAD) mode that simultaneously provides confidentiality, integrity, and authenticity, preventing data tampering.</a:t>
            </a:r>
          </a:p>
          <a:p>
            <a:endParaRPr lang="en-US" dirty="0">
              <a:solidFill>
                <a:srgbClr val="002060"/>
              </a:solidFill>
              <a:latin typeface="Rockwell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97718" y="1128604"/>
            <a:ext cx="256222" cy="256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08767" y="1114619"/>
            <a:ext cx="284972" cy="284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372662" y="3260661"/>
            <a:ext cx="324550" cy="32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861997" y="4397756"/>
            <a:ext cx="265684" cy="2656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845101" y="4377690"/>
            <a:ext cx="290830" cy="2908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903470" y="2152650"/>
            <a:ext cx="344170" cy="3441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29450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>
          <a:extLst>
            <a:ext uri="{FF2B5EF4-FFF2-40B4-BE49-F238E27FC236}">
              <a16:creationId xmlns:a16="http://schemas.microsoft.com/office/drawing/2014/main" xmlns="" id="{5231E0E5-2F4A-64EF-5D6F-B9FB8AFE1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">
            <a:extLst>
              <a:ext uri="{FF2B5EF4-FFF2-40B4-BE49-F238E27FC236}">
                <a16:creationId xmlns:a16="http://schemas.microsoft.com/office/drawing/2014/main" xmlns="" id="{938535A5-3845-C906-BB0F-D1DFDF07D59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88888"/>
                </a:buClr>
                <a:buSzPts val="1200"/>
                <a:buFont typeface="Calibri"/>
                <a:buNone/>
                <a:tabLst/>
                <a:defRPr/>
              </a:pPr>
              <a:t>5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" name="Google Shape;233;p1">
            <a:extLst>
              <a:ext uri="{FF2B5EF4-FFF2-40B4-BE49-F238E27FC236}">
                <a16:creationId xmlns:a16="http://schemas.microsoft.com/office/drawing/2014/main" xmlns="" id="{27203AA6-6F9F-B29E-0C67-220B62ECF5F8}"/>
              </a:ext>
            </a:extLst>
          </p:cNvPr>
          <p:cNvSpPr txBox="1"/>
          <p:nvPr/>
        </p:nvSpPr>
        <p:spPr>
          <a:xfrm>
            <a:off x="1058100" y="450043"/>
            <a:ext cx="100758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Rockwell" pitchFamily="18" charset="0"/>
                <a:ea typeface="Helvetica Neue"/>
                <a:cs typeface="Helvetica Neue"/>
                <a:sym typeface="Helvetica Neue"/>
              </a:rPr>
              <a:t>Challenges Faced during </a:t>
            </a:r>
            <a:r>
              <a:rPr kumimoji="0" 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Rockwell" pitchFamily="18" charset="0"/>
                <a:ea typeface="Helvetica Neue"/>
                <a:cs typeface="Helvetica Neue"/>
                <a:sym typeface="Helvetica Neue"/>
              </a:rPr>
              <a:t>development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Rockwell" pitchFamily="18" charset="0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75657" y="1110343"/>
            <a:ext cx="814562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b="1" dirty="0" smtClean="0">
                <a:solidFill>
                  <a:srgbClr val="002060"/>
                </a:solidFill>
                <a:latin typeface="Rockwell" pitchFamily="18" charset="0"/>
              </a:rPr>
              <a:t> Achieving True Zero-Knowledge:</a:t>
            </a:r>
            <a:endParaRPr lang="en-US" dirty="0" smtClean="0">
              <a:solidFill>
                <a:srgbClr val="002060"/>
              </a:solidFill>
              <a:latin typeface="Rockwell" pitchFamily="18" charset="0"/>
            </a:endParaRPr>
          </a:p>
          <a:p>
            <a:pPr lvl="1"/>
            <a:r>
              <a:rPr lang="en-US" dirty="0" smtClean="0">
                <a:solidFill>
                  <a:srgbClr val="002060"/>
                </a:solidFill>
                <a:latin typeface="Rockwell" pitchFamily="18" charset="0"/>
              </a:rPr>
              <a:t>Designing a system where administrators or attackers breaching the server cannot access plaintext data required strict architectural isolation.</a:t>
            </a:r>
          </a:p>
          <a:p>
            <a:pPr lvl="1"/>
            <a:r>
              <a:rPr lang="en-US" dirty="0" smtClean="0">
                <a:solidFill>
                  <a:srgbClr val="002060"/>
                </a:solidFill>
                <a:latin typeface="Rockwell" pitchFamily="18" charset="0"/>
              </a:rPr>
              <a:t>This necessitated ensuring all sensitive operations (encryption, key embedding) occur solely in-memory, avoiding any disk I/O of plaintext data.</a:t>
            </a:r>
          </a:p>
          <a:p>
            <a:pPr lvl="1"/>
            <a:endParaRPr lang="en-US" dirty="0" smtClean="0">
              <a:solidFill>
                <a:srgbClr val="002060"/>
              </a:solidFill>
              <a:latin typeface="Rockwell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b="1" dirty="0" smtClean="0">
                <a:solidFill>
                  <a:srgbClr val="002060"/>
                </a:solidFill>
                <a:latin typeface="Rockwell" pitchFamily="18" charset="0"/>
              </a:rPr>
              <a:t> Performance vs. Security Trade-off:</a:t>
            </a:r>
            <a:endParaRPr lang="en-US" dirty="0" smtClean="0">
              <a:solidFill>
                <a:srgbClr val="002060"/>
              </a:solidFill>
              <a:latin typeface="Rockwell" pitchFamily="18" charset="0"/>
            </a:endParaRPr>
          </a:p>
          <a:p>
            <a:pPr lvl="1"/>
            <a:r>
              <a:rPr lang="en-US" dirty="0" err="1" smtClean="0">
                <a:solidFill>
                  <a:srgbClr val="002060"/>
                </a:solidFill>
                <a:latin typeface="Rockwell" pitchFamily="18" charset="0"/>
              </a:rPr>
              <a:t>Steganographic</a:t>
            </a:r>
            <a:r>
              <a:rPr lang="en-US" dirty="0" smtClean="0">
                <a:solidFill>
                  <a:srgbClr val="002060"/>
                </a:solidFill>
                <a:latin typeface="Rockwell" pitchFamily="18" charset="0"/>
              </a:rPr>
              <a:t> systems are often slow; overcoming this required leveraging optimized C++ bindings (via Sharp) to keep pixel manipulation from blocking the Node.js event loop.</a:t>
            </a:r>
          </a:p>
          <a:p>
            <a:endParaRPr lang="en-US" b="1" dirty="0" smtClean="0">
              <a:solidFill>
                <a:srgbClr val="002060"/>
              </a:solidFill>
              <a:latin typeface="Rockwell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b="1" dirty="0" smtClean="0">
                <a:solidFill>
                  <a:srgbClr val="002060"/>
                </a:solidFill>
                <a:latin typeface="Rockwell" pitchFamily="18" charset="0"/>
              </a:rPr>
              <a:t> Data Integrity Assurance:</a:t>
            </a:r>
            <a:endParaRPr lang="en-US" dirty="0" smtClean="0">
              <a:solidFill>
                <a:srgbClr val="002060"/>
              </a:solidFill>
              <a:latin typeface="Rockwell" pitchFamily="18" charset="0"/>
            </a:endParaRPr>
          </a:p>
          <a:p>
            <a:pPr lvl="1"/>
            <a:r>
              <a:rPr lang="en-US" dirty="0" smtClean="0">
                <a:solidFill>
                  <a:srgbClr val="002060"/>
                </a:solidFill>
                <a:latin typeface="Rockwell" pitchFamily="18" charset="0"/>
              </a:rPr>
              <a:t>Moving beyond simple encryption to ensure data wasn't tampered with in transit or at rest required implementing AES-GCM for its built-in authentication tag validation.</a:t>
            </a:r>
            <a:endParaRPr lang="en-US" dirty="0">
              <a:solidFill>
                <a:srgbClr val="002060"/>
              </a:solidFill>
              <a:latin typeface="Rockwell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43811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>
          <a:extLst>
            <a:ext uri="{FF2B5EF4-FFF2-40B4-BE49-F238E27FC236}">
              <a16:creationId xmlns:a16="http://schemas.microsoft.com/office/drawing/2014/main" xmlns="" id="{4EE51925-123A-0826-7140-B57FF4400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">
            <a:extLst>
              <a:ext uri="{FF2B5EF4-FFF2-40B4-BE49-F238E27FC236}">
                <a16:creationId xmlns:a16="http://schemas.microsoft.com/office/drawing/2014/main" xmlns="" id="{1724DB37-E2D9-9976-A2E5-0B50C67872D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88888"/>
                </a:buClr>
                <a:buSzPts val="1200"/>
                <a:buFont typeface="Calibri"/>
                <a:buNone/>
                <a:tabLst/>
                <a:defRPr/>
              </a:pPr>
              <a:t>6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" name="Google Shape;233;p1">
            <a:extLst>
              <a:ext uri="{FF2B5EF4-FFF2-40B4-BE49-F238E27FC236}">
                <a16:creationId xmlns:a16="http://schemas.microsoft.com/office/drawing/2014/main" xmlns="" id="{21F2DBF7-E177-4BEE-7A33-97F818B85872}"/>
              </a:ext>
            </a:extLst>
          </p:cNvPr>
          <p:cNvSpPr txBox="1"/>
          <p:nvPr/>
        </p:nvSpPr>
        <p:spPr>
          <a:xfrm>
            <a:off x="1291365" y="228444"/>
            <a:ext cx="100758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Rockwell" pitchFamily="18" charset="0"/>
                <a:ea typeface="Helvetica Neue"/>
                <a:cs typeface="Helvetica Neue"/>
                <a:sym typeface="Helvetica Neue"/>
              </a:rPr>
              <a:t>Limitation and scope of the project with future projection extension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Rockwell" pitchFamily="18" charset="0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96955" y="1250302"/>
            <a:ext cx="8770776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>
              <a:solidFill>
                <a:srgbClr val="002060"/>
              </a:solidFill>
              <a:latin typeface="Rockwell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000" b="1" dirty="0" smtClean="0">
                <a:solidFill>
                  <a:srgbClr val="002060"/>
                </a:solidFill>
                <a:latin typeface="Rockwell" pitchFamily="18" charset="0"/>
              </a:rPr>
              <a:t> Scope:</a:t>
            </a:r>
            <a:r>
              <a:rPr lang="en-US" sz="2000" dirty="0" smtClean="0">
                <a:solidFill>
                  <a:srgbClr val="002060"/>
                </a:solidFill>
                <a:latin typeface="Rockwell" pitchFamily="18" charset="0"/>
              </a:rPr>
              <a:t> </a:t>
            </a:r>
            <a:r>
              <a:rPr lang="en-US" dirty="0" smtClean="0">
                <a:solidFill>
                  <a:srgbClr val="002060"/>
                </a:solidFill>
                <a:latin typeface="Rockwell" pitchFamily="18" charset="0"/>
              </a:rPr>
              <a:t>Full end-to-end user flow for encoding (encrypting/generating key-	image) and decoding (parsing key-image/decrypting) any file type.</a:t>
            </a:r>
          </a:p>
          <a:p>
            <a:endParaRPr lang="en-US" b="1" dirty="0" smtClean="0">
              <a:solidFill>
                <a:srgbClr val="002060"/>
              </a:solidFill>
              <a:latin typeface="Rockwell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b="1" dirty="0" smtClean="0">
                <a:solidFill>
                  <a:srgbClr val="002060"/>
                </a:solidFill>
                <a:latin typeface="Rockwell" pitchFamily="18" charset="0"/>
              </a:rPr>
              <a:t> </a:t>
            </a:r>
            <a:r>
              <a:rPr lang="en-US" sz="2000" b="1" dirty="0" smtClean="0">
                <a:solidFill>
                  <a:srgbClr val="002060"/>
                </a:solidFill>
                <a:latin typeface="Rockwell" pitchFamily="18" charset="0"/>
              </a:rPr>
              <a:t>Limitation:</a:t>
            </a:r>
            <a:r>
              <a:rPr lang="en-US" sz="2000" dirty="0" smtClean="0">
                <a:solidFill>
                  <a:srgbClr val="002060"/>
                </a:solidFill>
                <a:latin typeface="Rockwell" pitchFamily="18" charset="0"/>
              </a:rPr>
              <a:t> </a:t>
            </a:r>
            <a:r>
              <a:rPr lang="en-US" dirty="0" smtClean="0">
                <a:solidFill>
                  <a:srgbClr val="002060"/>
                </a:solidFill>
                <a:latin typeface="Rockwell" pitchFamily="18" charset="0"/>
              </a:rPr>
              <a:t>The in-memory processing design creates a practical upper limit 	on file size dependent on available server RAM.</a:t>
            </a:r>
          </a:p>
          <a:p>
            <a:endParaRPr lang="en-US" b="1" dirty="0" smtClean="0">
              <a:solidFill>
                <a:srgbClr val="002060"/>
              </a:solidFill>
              <a:latin typeface="Rockwell" pitchFamily="18" charset="0"/>
            </a:endParaRPr>
          </a:p>
          <a:p>
            <a:r>
              <a:rPr lang="en-US" sz="2100" b="1" dirty="0" smtClean="0">
                <a:solidFill>
                  <a:srgbClr val="002060"/>
                </a:solidFill>
                <a:latin typeface="Rockwell" pitchFamily="18" charset="0"/>
              </a:rPr>
              <a:t>Future Projection Extensions</a:t>
            </a:r>
          </a:p>
          <a:p>
            <a:endParaRPr lang="en-US" dirty="0" smtClean="0">
              <a:solidFill>
                <a:srgbClr val="002060"/>
              </a:solidFill>
              <a:latin typeface="Rockwell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b="1" dirty="0" smtClean="0">
                <a:solidFill>
                  <a:srgbClr val="002060"/>
                </a:solidFill>
                <a:latin typeface="Rockwell" pitchFamily="18" charset="0"/>
              </a:rPr>
              <a:t> Large-File Support (</a:t>
            </a:r>
            <a:r>
              <a:rPr lang="en-US" b="1" dirty="0" err="1" smtClean="0">
                <a:solidFill>
                  <a:srgbClr val="002060"/>
                </a:solidFill>
                <a:latin typeface="Rockwell" pitchFamily="18" charset="0"/>
              </a:rPr>
              <a:t>GridFS</a:t>
            </a:r>
            <a:r>
              <a:rPr lang="en-US" b="1" dirty="0" smtClean="0">
                <a:solidFill>
                  <a:srgbClr val="002060"/>
                </a:solidFill>
                <a:latin typeface="Rockwell" pitchFamily="18" charset="0"/>
              </a:rPr>
              <a:t>):</a:t>
            </a:r>
            <a:r>
              <a:rPr lang="en-US" dirty="0" smtClean="0">
                <a:solidFill>
                  <a:srgbClr val="002060"/>
                </a:solidFill>
                <a:latin typeface="Rockwell" pitchFamily="18" charset="0"/>
              </a:rPr>
              <a:t> Integrating </a:t>
            </a:r>
            <a:r>
              <a:rPr lang="en-US" dirty="0" err="1" smtClean="0">
                <a:solidFill>
                  <a:srgbClr val="002060"/>
                </a:solidFill>
                <a:latin typeface="Rockwell" pitchFamily="18" charset="0"/>
              </a:rPr>
              <a:t>MongoDB</a:t>
            </a:r>
            <a:r>
              <a:rPr lang="en-US" dirty="0" smtClean="0">
                <a:solidFill>
                  <a:srgbClr val="002060"/>
                </a:solidFill>
                <a:latin typeface="Rockwell" pitchFamily="18" charset="0"/>
              </a:rPr>
              <a:t> </a:t>
            </a:r>
            <a:r>
              <a:rPr lang="en-US" dirty="0" err="1" smtClean="0">
                <a:solidFill>
                  <a:srgbClr val="002060"/>
                </a:solidFill>
                <a:latin typeface="Rockwell" pitchFamily="18" charset="0"/>
              </a:rPr>
              <a:t>GridFS</a:t>
            </a:r>
            <a:r>
              <a:rPr lang="en-US" dirty="0" smtClean="0">
                <a:solidFill>
                  <a:srgbClr val="002060"/>
                </a:solidFill>
                <a:latin typeface="Rockwell" pitchFamily="18" charset="0"/>
              </a:rPr>
              <a:t> to chunk files, 	enabling terabyte-scale data support while maintaining zero-knowledge.</a:t>
            </a:r>
          </a:p>
          <a:p>
            <a:endParaRPr lang="en-US" dirty="0" smtClean="0">
              <a:solidFill>
                <a:srgbClr val="002060"/>
              </a:solidFill>
              <a:latin typeface="Rockwell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b="1" dirty="0" smtClean="0">
                <a:solidFill>
                  <a:srgbClr val="002060"/>
                </a:solidFill>
                <a:latin typeface="Rockwell" pitchFamily="18" charset="0"/>
              </a:rPr>
              <a:t> Algorithm Agility:</a:t>
            </a:r>
            <a:r>
              <a:rPr lang="en-US" dirty="0" smtClean="0">
                <a:solidFill>
                  <a:srgbClr val="002060"/>
                </a:solidFill>
                <a:latin typeface="Rockwell" pitchFamily="18" charset="0"/>
              </a:rPr>
              <a:t> Abstracting logic to allow users to select different 	cryptographic (e.g., ChaCha20) or </a:t>
            </a:r>
            <a:r>
              <a:rPr lang="en-US" dirty="0" err="1" smtClean="0">
                <a:solidFill>
                  <a:srgbClr val="002060"/>
                </a:solidFill>
                <a:latin typeface="Rockwell" pitchFamily="18" charset="0"/>
              </a:rPr>
              <a:t>steganographic</a:t>
            </a:r>
            <a:r>
              <a:rPr lang="en-US" dirty="0" smtClean="0">
                <a:solidFill>
                  <a:srgbClr val="002060"/>
                </a:solidFill>
                <a:latin typeface="Rockwell" pitchFamily="18" charset="0"/>
              </a:rPr>
              <a:t> algorithms.</a:t>
            </a:r>
          </a:p>
          <a:p>
            <a:endParaRPr lang="en-US" b="1" dirty="0" smtClean="0">
              <a:solidFill>
                <a:srgbClr val="002060"/>
              </a:solidFill>
              <a:latin typeface="Rockwell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b="1" dirty="0" smtClean="0">
                <a:solidFill>
                  <a:srgbClr val="002060"/>
                </a:solidFill>
                <a:latin typeface="Rockwell" pitchFamily="18" charset="0"/>
              </a:rPr>
              <a:t> API-Driven Workflows:</a:t>
            </a:r>
            <a:r>
              <a:rPr lang="en-US" dirty="0" smtClean="0">
                <a:solidFill>
                  <a:srgbClr val="002060"/>
                </a:solidFill>
                <a:latin typeface="Rockwell" pitchFamily="18" charset="0"/>
              </a:rPr>
              <a:t> Developing capabilities for batch encoding/decoding 	of entire directories for automated secure backups.</a:t>
            </a:r>
          </a:p>
          <a:p>
            <a:endParaRPr lang="en-US" dirty="0">
              <a:solidFill>
                <a:srgbClr val="002060"/>
              </a:solidFill>
              <a:latin typeface="Rockwell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90627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>
          <a:extLst>
            <a:ext uri="{FF2B5EF4-FFF2-40B4-BE49-F238E27FC236}">
              <a16:creationId xmlns:a16="http://schemas.microsoft.com/office/drawing/2014/main" xmlns="" id="{77291D8B-5BDF-762B-889C-EF7EEA2BF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">
            <a:extLst>
              <a:ext uri="{FF2B5EF4-FFF2-40B4-BE49-F238E27FC236}">
                <a16:creationId xmlns:a16="http://schemas.microsoft.com/office/drawing/2014/main" xmlns="" id="{E0757F77-E042-DE7D-7831-0AC75B621A9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88888"/>
                </a:buClr>
                <a:buSzPts val="1200"/>
                <a:buFont typeface="Calibri"/>
                <a:buNone/>
                <a:tabLst/>
                <a:defRPr/>
              </a:pPr>
              <a:t>7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" name="Google Shape;233;p1">
            <a:extLst>
              <a:ext uri="{FF2B5EF4-FFF2-40B4-BE49-F238E27FC236}">
                <a16:creationId xmlns:a16="http://schemas.microsoft.com/office/drawing/2014/main" xmlns="" id="{928D23C3-4AD4-CA06-D0B3-53D2500A9353}"/>
              </a:ext>
            </a:extLst>
          </p:cNvPr>
          <p:cNvSpPr txBox="1"/>
          <p:nvPr/>
        </p:nvSpPr>
        <p:spPr>
          <a:xfrm>
            <a:off x="1027620" y="0"/>
            <a:ext cx="100758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Rockwell" pitchFamily="18" charset="0"/>
                <a:ea typeface="Helvetica Neue"/>
                <a:cs typeface="Helvetica Neue"/>
                <a:sym typeface="Helvetica Neue"/>
              </a:rPr>
              <a:t>Working Demo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Rockwell" pitchFamily="18" charset="0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" name="Picture 6" descr="encryption_page_after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041490" y="3582898"/>
            <a:ext cx="1719593" cy="2309902"/>
          </a:xfrm>
          <a:prstGeom prst="rect">
            <a:avLst/>
          </a:prstGeom>
        </p:spPr>
      </p:pic>
      <p:pic>
        <p:nvPicPr>
          <p:cNvPr id="8" name="Picture 7" descr="encryption_page_before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107440" y="3734152"/>
            <a:ext cx="2967136" cy="1854460"/>
          </a:xfrm>
          <a:prstGeom prst="rect">
            <a:avLst/>
          </a:prstGeom>
        </p:spPr>
      </p:pic>
      <p:pic>
        <p:nvPicPr>
          <p:cNvPr id="9" name="Picture 8" descr="front_page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33120" y="629325"/>
            <a:ext cx="3244275" cy="2027672"/>
          </a:xfrm>
          <a:prstGeom prst="rect">
            <a:avLst/>
          </a:prstGeom>
        </p:spPr>
      </p:pic>
      <p:pic>
        <p:nvPicPr>
          <p:cNvPr id="10" name="Picture 9" descr="front_page_how_it_works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4505107" y="577952"/>
            <a:ext cx="3480653" cy="2175408"/>
          </a:xfrm>
          <a:prstGeom prst="rect">
            <a:avLst/>
          </a:prstGeom>
        </p:spPr>
      </p:pic>
      <p:pic>
        <p:nvPicPr>
          <p:cNvPr id="12" name="Picture 11" descr="front_page_info_opeaned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8133733" y="2718842"/>
            <a:ext cx="3468987" cy="216811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778000" y="2641600"/>
            <a:ext cx="1452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  <a:latin typeface="Rockwell" pitchFamily="18" charset="0"/>
              </a:rPr>
              <a:t>Front page</a:t>
            </a:r>
            <a:endParaRPr lang="en-US" b="1" dirty="0">
              <a:solidFill>
                <a:srgbClr val="002060"/>
              </a:solidFill>
              <a:latin typeface="Rockwell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35600" y="2733040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  <a:latin typeface="Rockwell" pitchFamily="18" charset="0"/>
              </a:rPr>
              <a:t>How it works</a:t>
            </a:r>
            <a:endParaRPr lang="en-US" b="1" dirty="0">
              <a:solidFill>
                <a:srgbClr val="002060"/>
              </a:solidFill>
              <a:latin typeface="Rockwell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798560" y="4876800"/>
            <a:ext cx="2519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  <a:latin typeface="Rockwell" pitchFamily="18" charset="0"/>
              </a:rPr>
              <a:t>Front page (info)</a:t>
            </a:r>
            <a:endParaRPr lang="en-US" b="1" dirty="0">
              <a:solidFill>
                <a:srgbClr val="002060"/>
              </a:solidFill>
              <a:latin typeface="Rockwell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15440" y="5588000"/>
            <a:ext cx="205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  <a:latin typeface="Rockwell" pitchFamily="18" charset="0"/>
              </a:rPr>
              <a:t>Encryption page</a:t>
            </a:r>
            <a:endParaRPr lang="en-US" b="1" dirty="0">
              <a:solidFill>
                <a:srgbClr val="002060"/>
              </a:solidFill>
              <a:latin typeface="Rockwell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008880" y="5882640"/>
            <a:ext cx="2001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  <a:latin typeface="Rockwell" pitchFamily="18" charset="0"/>
              </a:rPr>
              <a:t>Picture upload</a:t>
            </a:r>
            <a:endParaRPr lang="en-US" b="1" dirty="0">
              <a:solidFill>
                <a:srgbClr val="002060"/>
              </a:solidFill>
              <a:latin typeface="Rockwell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58643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ive_encryption_stats_graph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56965" y="1614610"/>
            <a:ext cx="2911152" cy="1819470"/>
          </a:xfrm>
          <a:prstGeom prst="rect">
            <a:avLst/>
          </a:prstGeom>
        </p:spPr>
      </p:pic>
      <p:pic>
        <p:nvPicPr>
          <p:cNvPr id="4" name="Picture 3" descr="encrypted_file_viewer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158480" y="1465703"/>
            <a:ext cx="2623126" cy="2726113"/>
          </a:xfrm>
          <a:prstGeom prst="rect">
            <a:avLst/>
          </a:prstGeom>
        </p:spPr>
      </p:pic>
      <p:pic>
        <p:nvPicPr>
          <p:cNvPr id="5" name="Picture 4" descr="decryption_page_before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602273" y="3284043"/>
            <a:ext cx="2316687" cy="2121077"/>
          </a:xfrm>
          <a:prstGeom prst="rect">
            <a:avLst/>
          </a:prstGeom>
        </p:spPr>
      </p:pic>
      <p:pic>
        <p:nvPicPr>
          <p:cNvPr id="6" name="Picture 5" descr="decryption_page_after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907742" y="4167071"/>
            <a:ext cx="2262178" cy="20711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3413760"/>
            <a:ext cx="2824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  <a:latin typeface="Rockwell" pitchFamily="18" charset="0"/>
              </a:rPr>
              <a:t>Live encryption update</a:t>
            </a:r>
            <a:endParaRPr lang="en-US" b="1" dirty="0">
              <a:solidFill>
                <a:srgbClr val="002060"/>
              </a:solidFill>
              <a:latin typeface="Rockwell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199120" y="4206240"/>
            <a:ext cx="2702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  <a:latin typeface="Rockwell" pitchFamily="18" charset="0"/>
              </a:rPr>
              <a:t>Encrypted file viewer</a:t>
            </a:r>
            <a:endParaRPr lang="en-US" b="1" dirty="0">
              <a:solidFill>
                <a:srgbClr val="002060"/>
              </a:solidFill>
              <a:latin typeface="Rockwell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93920" y="5405120"/>
            <a:ext cx="2174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  <a:latin typeface="Rockwell" pitchFamily="18" charset="0"/>
              </a:rPr>
              <a:t>Decryption page</a:t>
            </a:r>
            <a:endParaRPr lang="en-US" b="1" dirty="0">
              <a:solidFill>
                <a:srgbClr val="002060"/>
              </a:solidFill>
              <a:latin typeface="Rockwell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92480" y="6238240"/>
            <a:ext cx="2448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  <a:latin typeface="Rockwell" pitchFamily="18" charset="0"/>
              </a:rPr>
              <a:t>Decryption success</a:t>
            </a:r>
            <a:endParaRPr lang="en-US" b="1" dirty="0">
              <a:solidFill>
                <a:srgbClr val="002060"/>
              </a:solidFill>
              <a:latin typeface="Rockwell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>
          <a:extLst>
            <a:ext uri="{FF2B5EF4-FFF2-40B4-BE49-F238E27FC236}">
              <a16:creationId xmlns:a16="http://schemas.microsoft.com/office/drawing/2014/main" xmlns="" id="{9B786DEA-4A14-6A08-C59E-A65D2A600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">
            <a:extLst>
              <a:ext uri="{FF2B5EF4-FFF2-40B4-BE49-F238E27FC236}">
                <a16:creationId xmlns:a16="http://schemas.microsoft.com/office/drawing/2014/main" xmlns="" id="{81B6E922-73DB-07C0-23F9-BFB8C03498E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88888"/>
                </a:buClr>
                <a:buSzPts val="1200"/>
                <a:buFont typeface="Calibri"/>
                <a:buNone/>
                <a:tabLst/>
                <a:defRPr/>
              </a:pPr>
              <a:t>9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" name="Google Shape;233;p1">
            <a:extLst>
              <a:ext uri="{FF2B5EF4-FFF2-40B4-BE49-F238E27FC236}">
                <a16:creationId xmlns:a16="http://schemas.microsoft.com/office/drawing/2014/main" xmlns="" id="{EB157629-0113-D00F-40E3-64003C3AED6A}"/>
              </a:ext>
            </a:extLst>
          </p:cNvPr>
          <p:cNvSpPr txBox="1"/>
          <p:nvPr/>
        </p:nvSpPr>
        <p:spPr>
          <a:xfrm>
            <a:off x="1058100" y="450043"/>
            <a:ext cx="100758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Rockwell" pitchFamily="18" charset="0"/>
                <a:ea typeface="Helvetica Neue"/>
                <a:cs typeface="Helvetica Neue"/>
                <a:sym typeface="Helvetica Neue"/>
              </a:rPr>
              <a:t>Q/A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Rockwell" pitchFamily="18" charset="0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07707" y="3769567"/>
            <a:ext cx="74178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solidFill>
                  <a:srgbClr val="002060"/>
                </a:solidFill>
                <a:latin typeface="Rockwell" pitchFamily="18" charset="0"/>
              </a:rPr>
              <a:t>We are now open to questions </a:t>
            </a:r>
            <a:endParaRPr lang="en-US" sz="3600" b="1" dirty="0">
              <a:solidFill>
                <a:srgbClr val="002060"/>
              </a:solidFill>
              <a:latin typeface="Rockwell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86408" y="2202024"/>
            <a:ext cx="65874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 smtClean="0">
                <a:solidFill>
                  <a:srgbClr val="002060"/>
                </a:solidFill>
                <a:latin typeface="Rockwell" pitchFamily="18" charset="0"/>
              </a:rPr>
              <a:t>Thank You </a:t>
            </a:r>
            <a:endParaRPr lang="en-US" sz="7200" b="1" dirty="0">
              <a:solidFill>
                <a:srgbClr val="002060"/>
              </a:solidFill>
              <a:latin typeface="Rockwell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35884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ad743f4-bdd2-4bd6-b73e-105263bf967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23D56B6783A0748A3738F918A46CAB4" ma:contentTypeVersion="17" ma:contentTypeDescription="Create a new document." ma:contentTypeScope="" ma:versionID="6e41a76b0dc34f93baac9f52f61b4a56">
  <xsd:schema xmlns:xsd="http://www.w3.org/2001/XMLSchema" xmlns:xs="http://www.w3.org/2001/XMLSchema" xmlns:p="http://schemas.microsoft.com/office/2006/metadata/properties" xmlns:ns3="dad743f4-bdd2-4bd6-b73e-105263bf9679" xmlns:ns4="a92b8159-32d9-436c-84b6-b44b2798c3ae" targetNamespace="http://schemas.microsoft.com/office/2006/metadata/properties" ma:root="true" ma:fieldsID="0b3bfe5915bb9f42ffd2020dfa825105" ns3:_="" ns4:_="">
    <xsd:import namespace="dad743f4-bdd2-4bd6-b73e-105263bf9679"/>
    <xsd:import namespace="a92b8159-32d9-436c-84b6-b44b2798c3a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d743f4-bdd2-4bd6-b73e-105263bf967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2b8159-32d9-436c-84b6-b44b2798c3ae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1954FEC-1900-432E-B542-0EF3A7352026}">
  <ds:schemaRefs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purl.org/dc/dcmitype/"/>
    <ds:schemaRef ds:uri="http://www.w3.org/XML/1998/namespace"/>
    <ds:schemaRef ds:uri="http://purl.org/dc/terms/"/>
    <ds:schemaRef ds:uri="http://schemas.microsoft.com/office/infopath/2007/PartnerControls"/>
    <ds:schemaRef ds:uri="a92b8159-32d9-436c-84b6-b44b2798c3ae"/>
    <ds:schemaRef ds:uri="dad743f4-bdd2-4bd6-b73e-105263bf9679"/>
  </ds:schemaRefs>
</ds:datastoreItem>
</file>

<file path=customXml/itemProps2.xml><?xml version="1.0" encoding="utf-8"?>
<ds:datastoreItem xmlns:ds="http://schemas.openxmlformats.org/officeDocument/2006/customXml" ds:itemID="{3EC0B3FA-12E5-4204-8076-7CA92623A47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ABE224E-3841-47CC-AC9E-030D586A84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ad743f4-bdd2-4bd6-b73e-105263bf9679"/>
    <ds:schemaRef ds:uri="a92b8159-32d9-436c-84b6-b44b2798c3a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335</TotalTime>
  <Words>485</Words>
  <Application>Microsoft Office PowerPoint</Application>
  <PresentationFormat>Custom</PresentationFormat>
  <Paragraphs>95</Paragraphs>
  <Slides>9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2013 - 2022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DrPrasadPurnaye</dc:creator>
  <cp:lastModifiedBy>acer</cp:lastModifiedBy>
  <cp:revision>24</cp:revision>
  <dcterms:created xsi:type="dcterms:W3CDTF">2024-11-05T05:13:38Z</dcterms:created>
  <dcterms:modified xsi:type="dcterms:W3CDTF">2025-11-08T19:09:24Z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0x010100123D56B6783A0748A3738F918A46CAB4</vt:lpwstr>
  </property>
</Properties>
</file>
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974" y="-2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87CAA422-5594-46CE-9B06-8FB95C6E94A8}" type="datetimeFigureOut">
              <a:rPr lang="en-US" smtClean="0"/>
              <a:pPr/>
              <a:t>09-Nov-25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C5A5EA1-4E81-4FF7-B671-FD48E6D249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1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94537968-BFB7-74EE-1904-EECDD22A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86383F38-F9B9-C927-0888-92B67833D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3AA7C681-470C-3C90-95A0-14C18029B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709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1CAA9D7B-5D94-18FE-E094-B7994967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E7BEA5E4-2FB2-7650-AE79-861E23652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A156E84D-D4ED-E303-96B2-923769CC0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372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CBBF1736-832A-729D-EA02-37178288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D9EC9F02-90B7-0E32-61BB-20194454A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6254A4CB-ADAB-4665-1C60-DD20E35D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508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19C5E4A9-D10B-2462-2CAE-7944C609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3C573FC1-A75E-A1B9-DD63-AF17B4C01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CB0300C7-7750-9CFB-C3AD-5D9E32E3D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89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A1AD3EA4-D3CE-F2A0-C836-B80CC767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737C773A-01DC-DBF0-D873-0CB32EC13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CE932A54-D712-D2B7-9117-3F38FD293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072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2797A89E-1E7E-519C-03F8-4CCCE695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396F970C-DE68-DBA2-ADF1-CC271EFE0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BF4F9105-E815-9353-0050-BB2C5AC4E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208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="" xmlns:a16="http://schemas.microsoft.com/office/drawing/2014/main" id="{6DCFCCBD-DA56-DC10-E1E7-1BCBC656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>
            <a:extLst>
              <a:ext uri="{FF2B5EF4-FFF2-40B4-BE49-F238E27FC236}">
                <a16:creationId xmlns="" xmlns:a16="http://schemas.microsoft.com/office/drawing/2014/main" id="{CFD0F70D-C6FD-8414-1625-C5DFF21E8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/>
          </a:p>
        </p:txBody>
      </p:sp>
      <p:sp>
        <p:nvSpPr>
          <p:cNvPr id="231" name="Google Shape;231;p1:notes">
            <a:extLst>
              <a:ext uri="{FF2B5EF4-FFF2-40B4-BE49-F238E27FC236}">
                <a16:creationId xmlns="" xmlns:a16="http://schemas.microsoft.com/office/drawing/2014/main" id="{450BE594-AAD8-F90B-1177-35A1B61B4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5330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82821" y="0"/>
            <a:ext cx="1145507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809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01829" y="0"/>
            <a:ext cx="1126499" cy="1243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4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19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17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5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720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5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475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2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38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150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225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052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 txBox="1"/>
          <p:nvPr/>
        </p:nvSpPr>
        <p:spPr>
          <a:xfrm>
            <a:off x="1030107" y="1464069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School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of Computer Science and Engineering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2467931" y="2083439"/>
            <a:ext cx="725613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Department  of Computer Engineering and Technology (DCET)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9624" y="100140"/>
            <a:ext cx="4221754" cy="13017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7" name="Google Shape;237;p1"/>
          <p:cNvSpPr txBox="1"/>
          <p:nvPr/>
        </p:nvSpPr>
        <p:spPr>
          <a:xfrm>
            <a:off x="777923" y="3164379"/>
            <a:ext cx="10636152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 dirty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Full Stack Development </a:t>
            </a:r>
            <a:endParaRPr lang="en-US" sz="2400" b="1" kern="0" dirty="0" smtClean="0">
              <a:solidFill>
                <a:srgbClr val="002060"/>
              </a:solidFill>
              <a:latin typeface="Rockwell" pitchFamily="18" charset="0"/>
              <a:ea typeface="Arial"/>
              <a:cs typeface="Arial"/>
              <a:sym typeface="Helvetica Neue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Mini Project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US" sz="2400" b="1" kern="0" dirty="0" err="1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BTech</a:t>
            </a: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 CSE (</a:t>
            </a:r>
            <a:r>
              <a:rPr lang="en-US" sz="2400" b="1" kern="0" dirty="0" err="1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Cybersecurity</a:t>
            </a: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 &amp; Forensics)</a:t>
            </a:r>
            <a:r>
              <a:rPr lang="en-US" sz="2400" b="1" kern="0" dirty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/>
            </a:r>
            <a:br>
              <a:rPr lang="en-US" sz="2400" b="1" kern="0" dirty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</a:br>
            <a:r>
              <a:rPr lang="en-US" sz="2400" b="1" kern="0" dirty="0" smtClean="0">
                <a:solidFill>
                  <a:srgbClr val="002060"/>
                </a:solidFill>
                <a:latin typeface="Rockwell" pitchFamily="18" charset="0"/>
                <a:ea typeface="Arial"/>
                <a:cs typeface="Arial"/>
                <a:sym typeface="Helvetica Neue"/>
              </a:rPr>
              <a:t>Panel-A</a:t>
            </a:r>
            <a:endParaRPr lang="en-US" sz="2400" b="1" kern="0" dirty="0">
              <a:solidFill>
                <a:srgbClr val="002060"/>
              </a:solidFill>
              <a:latin typeface="Rockwell" pitchFamily="18" charset="0"/>
              <a:ea typeface="Arial"/>
              <a:cs typeface="Arial"/>
              <a:sym typeface="Helvetica Neue"/>
            </a:endParaRPr>
          </a:p>
        </p:txBody>
      </p:sp>
      <p:sp>
        <p:nvSpPr>
          <p:cNvPr id="2" name="Google Shape;237;p1">
            <a:extLst>
              <a:ext uri="{FF2B5EF4-FFF2-40B4-BE49-F238E27FC236}">
                <a16:creationId xmlns="" xmlns:a16="http://schemas.microsoft.com/office/drawing/2014/main" id="{7A71C3C6-2D28-561A-E1C3-8A596C5DC166}"/>
              </a:ext>
            </a:extLst>
          </p:cNvPr>
          <p:cNvSpPr txBox="1"/>
          <p:nvPr/>
        </p:nvSpPr>
        <p:spPr>
          <a:xfrm>
            <a:off x="307479" y="4946708"/>
            <a:ext cx="8649909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Group members: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/>
            </a:r>
            <a:br>
              <a:rPr lang="en-US" b="1" dirty="0" smtClean="0">
                <a:solidFill>
                  <a:srgbClr val="002060"/>
                </a:solidFill>
                <a:latin typeface="Helvetica Neue"/>
              </a:rPr>
            </a:b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1032230441 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Dhiraj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Rajput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	1032230771: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Hrishikesh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Bywar</a:t>
            </a:r>
            <a:endParaRPr lang="en-US" b="1" dirty="0" smtClean="0">
              <a:solidFill>
                <a:srgbClr val="002060"/>
              </a:solidFill>
              <a:latin typeface="Helvetica Neue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1032231329: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Sushant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Kumar	1032231907: </a:t>
            </a:r>
            <a:r>
              <a:rPr lang="en-US" b="1" dirty="0" err="1" smtClean="0">
                <a:solidFill>
                  <a:srgbClr val="002060"/>
                </a:solidFill>
                <a:latin typeface="Helvetica Neue"/>
              </a:rPr>
              <a:t>Ashish</a:t>
            </a:r>
            <a:r>
              <a:rPr lang="en-US" b="1" dirty="0" smtClean="0">
                <a:solidFill>
                  <a:srgbClr val="002060"/>
                </a:solidFill>
                <a:latin typeface="Helvetica Neue"/>
              </a:rPr>
              <a:t> Sharma</a:t>
            </a:r>
            <a:endParaRPr lang="en-US" b="1" kern="0" dirty="0">
              <a:solidFill>
                <a:srgbClr val="002060"/>
              </a:solidFill>
              <a:latin typeface="Helvetica Neue"/>
              <a:ea typeface="Arial"/>
              <a:cs typeface="Arial"/>
              <a:sym typeface="Helvetica Neue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lang="en-US" b="1" kern="0" dirty="0">
              <a:solidFill>
                <a:srgbClr val="002060"/>
              </a:solidFill>
              <a:latin typeface="Helvetica Neue"/>
              <a:ea typeface="Arial"/>
              <a:cs typeface="Arial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819DBEF7-D4B5-2F72-6CDC-53424EE8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99929820-77C8-241B-F07C-73DE7A661A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" name="Google Shape;233;p1">
            <a:extLst>
              <a:ext uri="{FF2B5EF4-FFF2-40B4-BE49-F238E27FC236}">
                <a16:creationId xmlns="" xmlns:a16="http://schemas.microsoft.com/office/drawing/2014/main" id="{FD1EA14A-8DE2-85D1-C5CA-0291EAF42AA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Problem Statement &amp; Proposed Solution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0425" y="1102578"/>
            <a:ext cx="96198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Problem Statement</a:t>
            </a:r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Standard encryption methods face the problem of conspicuousness, where high-entropy, statistically random data becomes visibly opaque and a desirable target for attacks. This vulnerability is compounded by traditional key management systems, which create a discoverable and critical single point of failure.</a:t>
            </a:r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Proposed Solution: </a:t>
            </a:r>
            <a:r>
              <a:rPr lang="en-US" sz="2000" b="1" i="1" dirty="0" err="1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Obscura</a:t>
            </a:r>
            <a:endParaRPr lang="en-US" sz="2000" i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Multi-layered Security: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Combines industry-standard AES-256-GCM cryptography with high-capacity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steganography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Key Obfuscation: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The decryption key is embedded into the pixel data of an </a:t>
            </a:r>
          </a:p>
          <a:p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inconspicuous PNG image, successfully obscuring it in plain view.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Zero-Knowledge Architecture: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  <a:cs typeface="Times New Roman" pitchFamily="18" charset="0"/>
              </a:rPr>
              <a:t> The server never holds both the encrypted data and the key simultaneously; the link between them is permanently broken after encoding.</a:t>
            </a:r>
          </a:p>
          <a:p>
            <a:endParaRPr lang="en-US" dirty="0">
              <a:solidFill>
                <a:srgbClr val="002060"/>
              </a:solidFill>
              <a:latin typeface="Rockwell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4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88DDD356-EA64-3397-835B-7386F50E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AE01F1E9-AEC0-C1EF-7D76-5F808FB30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="" xmlns:a16="http://schemas.microsoft.com/office/drawing/2014/main" id="{20655B9A-0AB6-ACE3-0442-1DB6CB6E2DA6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Process Flow Diagram &amp; System Architecture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7789" y="911368"/>
            <a:ext cx="6186196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System Architecture</a:t>
            </a:r>
          </a:p>
          <a:p>
            <a:endParaRPr lang="en-US" sz="1600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1. Decoupled Design: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A modern client-server application 	separating the React UI from the Node.js secure 	backend.</a:t>
            </a: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2. Zero-Knowledge Storage :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The database only stores 	encrypted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ciphertext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and non-sensitive metadata; it is 	structurally impossible to store the key.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Process Flow</a:t>
            </a:r>
            <a:endParaRPr lang="en-US" sz="1600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1. Encoding (Encryption):  </a:t>
            </a:r>
            <a:r>
              <a:rPr lang="en-US" dirty="0" smtClean="0"/>
              <a:t>📄➡  🔒➡ 🖼</a:t>
            </a:r>
            <a:endParaRPr lang="en-US" sz="1600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File is uploaded to server memory via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Multer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File is encrypted using AES-256-GCM; a unique key and 	IV are generated.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Key and IV are embedded into a new PNG "key-image" 	using Sharp.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Ciphertext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is stored in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MongoDB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; Key-image is 	downloaded by the user; server memory is purged.</a:t>
            </a:r>
          </a:p>
          <a:p>
            <a:r>
              <a:rPr lang="en-US" sz="1600" b="1" dirty="0" smtClean="0">
                <a:solidFill>
                  <a:srgbClr val="002060"/>
                </a:solidFill>
                <a:latin typeface="Rockwell" pitchFamily="18" charset="0"/>
              </a:rPr>
              <a:t>2. Decoding (Decryption):   </a:t>
            </a:r>
            <a:r>
              <a:rPr lang="en-US" dirty="0" smtClean="0"/>
              <a:t>🖼➡🔓➡📄</a:t>
            </a:r>
            <a:endParaRPr lang="en-US" sz="1600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User uploads their unique PNG key-image.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System extracts the AES key and IV from the image pixels.</a:t>
            </a:r>
          </a:p>
          <a:p>
            <a:pPr lvl="1">
              <a:buFont typeface="Arial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Rockwell" pitchFamily="18" charset="0"/>
              </a:rPr>
              <a:t>Ciphertext</a:t>
            </a:r>
            <a:r>
              <a:rPr lang="en-US" sz="1600" dirty="0" smtClean="0">
                <a:solidFill>
                  <a:srgbClr val="002060"/>
                </a:solidFill>
                <a:latin typeface="Rockwell" pitchFamily="18" charset="0"/>
              </a:rPr>
              <a:t> is retrieved from DB and decrypted; integrity 	is validated via GCM Auth Tag.</a:t>
            </a:r>
          </a:p>
          <a:p>
            <a:endParaRPr lang="en-US" sz="1600" dirty="0">
              <a:solidFill>
                <a:srgbClr val="002060"/>
              </a:solidFill>
              <a:latin typeface="Rockwell" pitchFamily="18" charset="0"/>
            </a:endParaRP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46034" y="1424769"/>
            <a:ext cx="5445966" cy="3742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4412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6C7A9119-8DFA-0EB4-6BA9-DD30FA47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6043E473-82CB-9DDD-FA54-B4C9CA076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="" xmlns:a16="http://schemas.microsoft.com/office/drawing/2014/main" id="{1E7A7E53-FB8E-6C78-C1D3-D5E5CA16DA4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Technical Stack with Reasoning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730" y="1054359"/>
            <a:ext cx="101143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Backend: Node.js       &amp; Express 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Non-blocking, event-driven I/O architecture ideal for handling heavy I/O operations like file processing without blocking the main thread.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Image Processing: Sharp (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libvips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)</a:t>
            </a:r>
            <a:endParaRPr lang="en-US" i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Provides high-speed, in-memory manipulation of raw pixel data for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steganography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, significantly faster than JS-only alternatives.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Database: 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MongoDB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       &amp; Mongoose </a:t>
            </a:r>
            <a:r>
              <a:rPr lang="en-US" dirty="0" smtClean="0"/>
              <a:t>🐾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Mongoose offers a schema-enforced data persistence layer, allowing a minimalist model that intentionally omits key storage fields.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Frontend: React    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&amp; 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Vite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Delivers a fast, responsive user experience that hides cryptographic complexity behind a friendly interface.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Cryptography: AES-256-GCM </a:t>
            </a:r>
            <a:r>
              <a:rPr lang="en-US" dirty="0" smtClean="0"/>
              <a:t>🛡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i="1" dirty="0" smtClean="0">
                <a:solidFill>
                  <a:srgbClr val="002060"/>
                </a:solidFill>
                <a:latin typeface="Rockwell" pitchFamily="18" charset="0"/>
              </a:rPr>
              <a:t>Reasoning: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An Authenticated Encryption (AEAD) mode that simultaneously provides confidentiality, integrity, and authenticity, preventing data tampering.</a:t>
            </a:r>
          </a:p>
          <a:p>
            <a:endParaRPr lang="en-US" dirty="0">
              <a:solidFill>
                <a:srgbClr val="002060"/>
              </a:solidFill>
              <a:latin typeface="Rockwell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7718" y="1128604"/>
            <a:ext cx="256222" cy="256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08767" y="1114619"/>
            <a:ext cx="284972" cy="28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72662" y="3260661"/>
            <a:ext cx="324550" cy="3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61997" y="4397756"/>
            <a:ext cx="265684" cy="26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45101" y="4377690"/>
            <a:ext cx="290830" cy="290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03470" y="2152650"/>
            <a:ext cx="344170" cy="344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945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5231E0E5-2F4A-64EF-5D6F-B9FB8AF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938535A5-3845-C906-BB0F-D1DFDF07D5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="" xmlns:a16="http://schemas.microsoft.com/office/drawing/2014/main" id="{27203AA6-6F9F-B29E-0C67-220B62ECF5F8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Challenges Faced during </a:t>
            </a: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development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5657" y="1110343"/>
            <a:ext cx="81456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Achieving True Zero-Knowledge: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Designing a system where administrators or attackers breaching the server cannot access plaintext data required strict architectural isolation.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This necessitated ensuring all sensitive operations (encryption, key embedding) occur solely in-memory, avoiding any disk I/O of plaintext data.</a:t>
            </a:r>
          </a:p>
          <a:p>
            <a:pPr lvl="1"/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Performance vs. Security Trade-off: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/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Steganographic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systems are often slow; overcoming this required leveraging optimized C++ bindings (via Sharp) to keep pixel manipulation from blocking the Node.js event loop.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Data Integrity Assurance:</a:t>
            </a:r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Moving beyond simple encryption to ensure data wasn't tampered with in transit or at rest required implementing AES-GCM for its built-in authentication tag validation.</a:t>
            </a:r>
            <a:endParaRPr lang="en-US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1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4EE51925-123A-0826-7140-B57FF440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1724DB37-E2D9-9976-A2E5-0B50C67872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="" xmlns:a16="http://schemas.microsoft.com/office/drawing/2014/main" id="{21F2DBF7-E177-4BEE-7A33-97F818B85872}"/>
              </a:ext>
            </a:extLst>
          </p:cNvPr>
          <p:cNvSpPr txBox="1"/>
          <p:nvPr/>
        </p:nvSpPr>
        <p:spPr>
          <a:xfrm>
            <a:off x="1291365" y="228444"/>
            <a:ext cx="10075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Limitation and scope of the project with future projection extension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6955" y="1250302"/>
            <a:ext cx="877077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</a:rPr>
              <a:t> Scope:</a:t>
            </a:r>
            <a:r>
              <a:rPr lang="en-US" sz="20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Full end-to-end user flow for encoding (encrypting/generating key-	image) and decoding (parsing key-image/decrypting) any file type.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Rockwell" pitchFamily="18" charset="0"/>
              </a:rPr>
              <a:t>Limitation:</a:t>
            </a:r>
            <a:r>
              <a:rPr lang="en-US" sz="2000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The in-memory processing design creates a practical upper limit 	on file size dependent on available server RAM.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r>
              <a:rPr lang="en-US" sz="2100" b="1" dirty="0" smtClean="0">
                <a:solidFill>
                  <a:srgbClr val="002060"/>
                </a:solidFill>
                <a:latin typeface="Rockwell" pitchFamily="18" charset="0"/>
              </a:rPr>
              <a:t>Future Projection Extensions</a:t>
            </a:r>
          </a:p>
          <a:p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Large-File Support (</a:t>
            </a:r>
            <a:r>
              <a:rPr lang="en-US" b="1" dirty="0" err="1" smtClean="0">
                <a:solidFill>
                  <a:srgbClr val="002060"/>
                </a:solidFill>
                <a:latin typeface="Rockwell" pitchFamily="18" charset="0"/>
              </a:rPr>
              <a:t>GridFS</a:t>
            </a: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):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Integrating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MongoDB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GridFS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to chunk files, 	enabling terabyte-scale data support while maintaining zero-knowledge.</a:t>
            </a:r>
          </a:p>
          <a:p>
            <a:endParaRPr lang="en-US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Algorithm Agility: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Abstracting logic to allow users to select different 	cryptographic (e.g., ChaCha20) or </a:t>
            </a:r>
            <a:r>
              <a:rPr lang="en-US" dirty="0" err="1" smtClean="0">
                <a:solidFill>
                  <a:srgbClr val="002060"/>
                </a:solidFill>
                <a:latin typeface="Rockwell" pitchFamily="18" charset="0"/>
              </a:rPr>
              <a:t>steganographic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algorithms.</a:t>
            </a:r>
          </a:p>
          <a:p>
            <a:endParaRPr lang="en-US" b="1" dirty="0" smtClean="0">
              <a:solidFill>
                <a:srgbClr val="002060"/>
              </a:solidFill>
              <a:latin typeface="Rockwell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 API-Driven Workflows:</a:t>
            </a:r>
            <a:r>
              <a:rPr lang="en-US" dirty="0" smtClean="0">
                <a:solidFill>
                  <a:srgbClr val="002060"/>
                </a:solidFill>
                <a:latin typeface="Rockwell" pitchFamily="18" charset="0"/>
              </a:rPr>
              <a:t> Developing capabilities for batch encoding/decoding 	of entire directories for automated secure backups.</a:t>
            </a:r>
          </a:p>
          <a:p>
            <a:endParaRPr lang="en-US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62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77291D8B-5BDF-762B-889C-EF7EEA2B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E0757F77-E042-DE7D-7831-0AC75B621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="" xmlns:a16="http://schemas.microsoft.com/office/drawing/2014/main" id="{928D23C3-4AD4-CA06-D0B3-53D2500A9353}"/>
              </a:ext>
            </a:extLst>
          </p:cNvPr>
          <p:cNvSpPr txBox="1"/>
          <p:nvPr/>
        </p:nvSpPr>
        <p:spPr>
          <a:xfrm>
            <a:off x="1027620" y="0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Working Demo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Picture 6" descr="encryption_page_af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20189" y="2421760"/>
            <a:ext cx="1719593" cy="2309902"/>
          </a:xfrm>
          <a:prstGeom prst="rect">
            <a:avLst/>
          </a:prstGeom>
        </p:spPr>
      </p:pic>
      <p:pic>
        <p:nvPicPr>
          <p:cNvPr id="8" name="Picture 7" descr="encryption_page_befor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1689" y="3733540"/>
            <a:ext cx="2967136" cy="1854460"/>
          </a:xfrm>
          <a:prstGeom prst="rect">
            <a:avLst/>
          </a:prstGeom>
        </p:spPr>
      </p:pic>
      <p:pic>
        <p:nvPicPr>
          <p:cNvPr id="9" name="Picture 8" descr="front_pag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3120" y="705368"/>
            <a:ext cx="3244275" cy="2027672"/>
          </a:xfrm>
          <a:prstGeom prst="rect">
            <a:avLst/>
          </a:prstGeom>
        </p:spPr>
      </p:pic>
      <p:pic>
        <p:nvPicPr>
          <p:cNvPr id="10" name="Picture 9" descr="front_page_how_it_works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33473" y="631500"/>
            <a:ext cx="3480653" cy="2175408"/>
          </a:xfrm>
          <a:prstGeom prst="rect">
            <a:avLst/>
          </a:prstGeom>
        </p:spPr>
      </p:pic>
      <p:pic>
        <p:nvPicPr>
          <p:cNvPr id="12" name="Picture 11" descr="front_page_info_opeaned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450816" y="3576711"/>
            <a:ext cx="3468987" cy="21681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28817" y="2826266"/>
            <a:ext cx="145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Front page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5600" y="282626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How it works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13960" y="5782826"/>
            <a:ext cx="251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Front page (info)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9097" y="5598160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Encryption page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79225" y="4856480"/>
            <a:ext cx="200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Picture upload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4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ive_encryption_stats_grap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0325" y="872313"/>
            <a:ext cx="2911152" cy="1819470"/>
          </a:xfrm>
          <a:prstGeom prst="rect">
            <a:avLst/>
          </a:prstGeom>
        </p:spPr>
      </p:pic>
      <p:pic>
        <p:nvPicPr>
          <p:cNvPr id="4" name="Picture 3" descr="encrypted_file_view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40880" y="418991"/>
            <a:ext cx="2623126" cy="2726113"/>
          </a:xfrm>
          <a:prstGeom prst="rect">
            <a:avLst/>
          </a:prstGeom>
        </p:spPr>
      </p:pic>
      <p:pic>
        <p:nvPicPr>
          <p:cNvPr id="5" name="Picture 4" descr="decryption_page_befor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94099" y="3978821"/>
            <a:ext cx="2316687" cy="2121077"/>
          </a:xfrm>
          <a:prstGeom prst="rect">
            <a:avLst/>
          </a:prstGeom>
        </p:spPr>
      </p:pic>
      <p:pic>
        <p:nvPicPr>
          <p:cNvPr id="6" name="Picture 5" descr="decryption_page_afte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94812" y="3703283"/>
            <a:ext cx="2262178" cy="2071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3661" y="2914711"/>
            <a:ext cx="282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Live encryption update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01163" y="3518617"/>
            <a:ext cx="270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Encrypted file viewer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65323" y="6339840"/>
            <a:ext cx="217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Decryption page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01621" y="5868908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Rockwell" pitchFamily="18" charset="0"/>
              </a:rPr>
              <a:t>Decryption success</a:t>
            </a:r>
            <a:endParaRPr lang="en-US" b="1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="" xmlns:a16="http://schemas.microsoft.com/office/drawing/2014/main" id="{9B786DEA-4A14-6A08-C59E-A65D2A60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>
            <a:extLst>
              <a:ext uri="{FF2B5EF4-FFF2-40B4-BE49-F238E27FC236}">
                <a16:creationId xmlns="" xmlns:a16="http://schemas.microsoft.com/office/drawing/2014/main" id="{81B6E922-73DB-07C0-23F9-BFB8C03498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" name="Google Shape;233;p1">
            <a:extLst>
              <a:ext uri="{FF2B5EF4-FFF2-40B4-BE49-F238E27FC236}">
                <a16:creationId xmlns="" xmlns:a16="http://schemas.microsoft.com/office/drawing/2014/main" id="{EB157629-0113-D00F-40E3-64003C3AED6A}"/>
              </a:ext>
            </a:extLst>
          </p:cNvPr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ockwell" pitchFamily="18" charset="0"/>
                <a:ea typeface="Helvetica Neue"/>
                <a:cs typeface="Helvetica Neue"/>
                <a:sym typeface="Helvetica Neue"/>
              </a:rPr>
              <a:t>Q/A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ockwell" pitchFamily="18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7707" y="3769567"/>
            <a:ext cx="7417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Rockwell" pitchFamily="18" charset="0"/>
              </a:rPr>
              <a:t>We are now open to questions </a:t>
            </a:r>
            <a:endParaRPr lang="en-US" sz="3600" b="1" dirty="0">
              <a:solidFill>
                <a:srgbClr val="002060"/>
              </a:solidFill>
              <a:latin typeface="Rockwell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6408" y="2202024"/>
            <a:ext cx="6587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002060"/>
                </a:solidFill>
                <a:latin typeface="Rockwell" pitchFamily="18" charset="0"/>
              </a:rPr>
              <a:t>Thank You </a:t>
            </a:r>
            <a:endParaRPr lang="en-US" sz="7200" b="1" dirty="0">
              <a:solidFill>
                <a:srgbClr val="002060"/>
              </a:solidFill>
              <a:latin typeface="Rockwell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88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3D56B6783A0748A3738F918A46CAB4" ma:contentTypeVersion="17" ma:contentTypeDescription="Create a new document." ma:contentTypeScope="" ma:versionID="6e41a76b0dc34f93baac9f52f61b4a56">
  <xsd:schema xmlns:xsd="http://www.w3.org/2001/XMLSchema" xmlns:xs="http://www.w3.org/2001/XMLSchema" xmlns:p="http://schemas.microsoft.com/office/2006/metadata/properties" xmlns:ns3="dad743f4-bdd2-4bd6-b73e-105263bf9679" xmlns:ns4="a92b8159-32d9-436c-84b6-b44b2798c3ae" targetNamespace="http://schemas.microsoft.com/office/2006/metadata/properties" ma:root="true" ma:fieldsID="0b3bfe5915bb9f42ffd2020dfa825105" ns3:_="" ns4:_="">
    <xsd:import namespace="dad743f4-bdd2-4bd6-b73e-105263bf9679"/>
    <xsd:import namespace="a92b8159-32d9-436c-84b6-b44b2798c3a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743f4-bdd2-4bd6-b73e-105263bf96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b8159-32d9-436c-84b6-b44b2798c3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d743f4-bdd2-4bd6-b73e-105263bf9679" xsi:nil="true"/>
  </documentManagement>
</p:properties>
</file>

<file path=customXml/itemProps1.xml><?xml version="1.0" encoding="utf-8"?>
<ds:datastoreItem xmlns:ds="http://schemas.openxmlformats.org/officeDocument/2006/customXml" ds:itemID="{2ABE224E-3841-47CC-AC9E-030D586A84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d743f4-bdd2-4bd6-b73e-105263bf9679"/>
    <ds:schemaRef ds:uri="a92b8159-32d9-436c-84b6-b44b2798c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C0B3FA-12E5-4204-8076-7CA92623A4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954FEC-1900-432E-B542-0EF3A735202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a92b8159-32d9-436c-84b6-b44b2798c3ae"/>
    <ds:schemaRef ds:uri="http://schemas.microsoft.com/office/infopath/2007/PartnerControls"/>
    <ds:schemaRef ds:uri="dad743f4-bdd2-4bd6-b73e-105263bf967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485</Words>
  <Application>Microsoft Office PowerPoint</Application>
  <PresentationFormat>Custom</PresentationFormat>
  <Paragraphs>95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DrPrasadPurnaye</dc:creator>
  <cp:lastModifiedBy>ALL .</cp:lastModifiedBy>
  <cp:revision>25</cp:revision>
  <dcterms:created xsi:type="dcterms:W3CDTF">2024-11-05T05:13:38Z</dcterms:created>
  <dcterms:modified xsi:type="dcterms:W3CDTF">2025-11-09T13:53:17Z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0x010100123D56B6783A0748A3738F918A46CAB4</vt:lpwstr>
  </property>
</Properties>
</file>